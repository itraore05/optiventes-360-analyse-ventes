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13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6" r:id="rId1"/>
  </p:sldMasterIdLst>
  <p:notesMasterIdLst>
    <p:notesMasterId r:id="rId17"/>
  </p:notesMasterIdLst>
  <p:sldIdLst>
    <p:sldId id="256" r:id="rId2"/>
    <p:sldId id="350" r:id="rId3"/>
    <p:sldId id="352" r:id="rId4"/>
    <p:sldId id="353" r:id="rId5"/>
    <p:sldId id="355" r:id="rId6"/>
    <p:sldId id="356" r:id="rId7"/>
    <p:sldId id="357" r:id="rId8"/>
    <p:sldId id="359" r:id="rId9"/>
    <p:sldId id="360" r:id="rId10"/>
    <p:sldId id="361" r:id="rId11"/>
    <p:sldId id="362" r:id="rId12"/>
    <p:sldId id="363" r:id="rId13"/>
    <p:sldId id="366" r:id="rId14"/>
    <p:sldId id="364" r:id="rId15"/>
    <p:sldId id="365" r:id="rId16"/>
  </p:sldIdLst>
  <p:sldSz cx="9144000" cy="5143500" type="screen16x9"/>
  <p:notesSz cx="6858000" cy="9144000"/>
  <p:embeddedFontLst>
    <p:embeddedFont>
      <p:font typeface="Gothic A1" panose="020B0604020202020204" charset="-127"/>
      <p:regular r:id="rId18"/>
      <p:bold r:id="rId19"/>
    </p:embeddedFont>
    <p:embeddedFont>
      <p:font typeface="Exo" panose="020B0604020202020204" charset="0"/>
      <p:regular r:id="rId20"/>
      <p:bold r:id="rId21"/>
      <p:italic r:id="rId22"/>
      <p:boldItalic r:id="rId23"/>
    </p:embeddedFont>
    <p:embeddedFont>
      <p:font typeface="Exo Black" panose="020B0604020202020204" charset="0"/>
      <p:bold r:id="rId24"/>
      <p:italic r:id="rId25"/>
      <p:boldItalic r:id="rId26"/>
    </p:embeddedFont>
    <p:embeddedFont>
      <p:font typeface="Exo SemiBold" panose="020B0604020202020204" charset="0"/>
      <p:regular r:id="rId27"/>
      <p:bold r:id="rId28"/>
      <p:italic r:id="rId29"/>
      <p:boldItalic r:id="rId30"/>
    </p:embeddedFont>
    <p:embeddedFont>
      <p:font typeface="Loved by the King" panose="020B0604020202020204" charset="0"/>
      <p:regular r:id="rId31"/>
    </p:embeddedFont>
    <p:embeddedFont>
      <p:font typeface="Nunito Light" pitchFamily="2" charset="0"/>
      <p:regular r:id="rId32"/>
      <p:italic r:id="rId33"/>
    </p:embeddedFont>
    <p:embeddedFont>
      <p:font typeface="Roboto Condensed Light" panose="02000000000000000000" pitchFamily="2" charset="0"/>
      <p:regular r:id="rId34"/>
      <p: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lly" initials="K" lastIdx="1" clrIdx="0">
    <p:extLst>
      <p:ext uri="{19B8F6BF-5375-455C-9EA6-DF929625EA0E}">
        <p15:presenceInfo xmlns:p15="http://schemas.microsoft.com/office/powerpoint/2012/main" userId="c57117e53ae8f4dc" providerId="Windows Live"/>
      </p:ext>
    </p:extLst>
  </p:cmAuthor>
  <p:cmAuthor id="2" name="traoreismael.ci@gmail.com" initials="" lastIdx="14" clrIdx="1">
    <p:extLst>
      <p:ext uri="{19B8F6BF-5375-455C-9EA6-DF929625EA0E}">
        <p15:presenceInfo xmlns:p15="http://schemas.microsoft.com/office/powerpoint/2012/main" userId="0514468f74044b4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9206"/>
    <a:srgbClr val="071637"/>
    <a:srgbClr val="1C9444"/>
    <a:srgbClr val="FFFFFF"/>
    <a:srgbClr val="CBCED5"/>
    <a:srgbClr val="645F65"/>
    <a:srgbClr val="30281A"/>
    <a:srgbClr val="827226"/>
    <a:srgbClr val="03133F"/>
    <a:srgbClr val="FF7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85" autoAdjust="0"/>
    <p:restoredTop sz="93842" autoAdjust="0"/>
  </p:normalViewPr>
  <p:slideViewPr>
    <p:cSldViewPr snapToGrid="0">
      <p:cViewPr varScale="1">
        <p:scale>
          <a:sx n="114" d="100"/>
          <a:sy n="114" d="100"/>
        </p:scale>
        <p:origin x="365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theme" Target="theme/theme1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02-25T17:13:06.729" idx="1">
    <p:pos x="6057" y="-195"/>
    <p:text/>
    <p:extLst>
      <p:ext uri="{C676402C-5697-4E1C-873F-D02D1690AC5C}">
        <p15:threadingInfo xmlns:p15="http://schemas.microsoft.com/office/powerpoint/2012/main" timeZoneBias="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02-25T17:13:06.729" idx="9">
    <p:pos x="6057" y="-195"/>
    <p:text/>
    <p:extLst>
      <p:ext uri="{C676402C-5697-4E1C-873F-D02D1690AC5C}">
        <p15:threadingInfo xmlns:p15="http://schemas.microsoft.com/office/powerpoint/2012/main" timeZoneBias="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02-25T17:13:06.729" idx="11">
    <p:pos x="6057" y="-195"/>
    <p:text/>
    <p:extLst>
      <p:ext uri="{C676402C-5697-4E1C-873F-D02D1690AC5C}">
        <p15:threadingInfo xmlns:p15="http://schemas.microsoft.com/office/powerpoint/2012/main" timeZoneBias="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02-25T17:13:06.729" idx="12">
    <p:pos x="6057" y="-195"/>
    <p:text/>
    <p:extLst>
      <p:ext uri="{C676402C-5697-4E1C-873F-D02D1690AC5C}">
        <p15:threadingInfo xmlns:p15="http://schemas.microsoft.com/office/powerpoint/2012/main" timeZoneBias="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8" name="Google Shape;2288;g251edeeeb92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9" name="Google Shape;2289;g251edeeeb92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g25256bc2c4a_5_1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5" name="Google Shape;2315;g25256bc2c4a_5_1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053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3">
          <a:extLst>
            <a:ext uri="{FF2B5EF4-FFF2-40B4-BE49-F238E27FC236}">
              <a16:creationId xmlns:a16="http://schemas.microsoft.com/office/drawing/2014/main" id="{BE9AE163-EE01-77B4-8B3E-89A408E90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g25256bc2c4a_5_1121:notes">
            <a:extLst>
              <a:ext uri="{FF2B5EF4-FFF2-40B4-BE49-F238E27FC236}">
                <a16:creationId xmlns:a16="http://schemas.microsoft.com/office/drawing/2014/main" id="{7E34BE43-1585-170C-C989-A854BED02F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5" name="Google Shape;2315;g25256bc2c4a_5_1121:notes">
            <a:extLst>
              <a:ext uri="{FF2B5EF4-FFF2-40B4-BE49-F238E27FC236}">
                <a16:creationId xmlns:a16="http://schemas.microsoft.com/office/drawing/2014/main" id="{CF853E2D-E70B-CCF3-FDA3-8AF04D4970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3145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3">
          <a:extLst>
            <a:ext uri="{FF2B5EF4-FFF2-40B4-BE49-F238E27FC236}">
              <a16:creationId xmlns:a16="http://schemas.microsoft.com/office/drawing/2014/main" id="{5D422B60-D1BE-A6F0-E41B-C25A586F1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g25256bc2c4a_5_1121:notes">
            <a:extLst>
              <a:ext uri="{FF2B5EF4-FFF2-40B4-BE49-F238E27FC236}">
                <a16:creationId xmlns:a16="http://schemas.microsoft.com/office/drawing/2014/main" id="{256397C8-66C9-5012-9DD6-88A880D319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5" name="Google Shape;2315;g25256bc2c4a_5_1121:notes">
            <a:extLst>
              <a:ext uri="{FF2B5EF4-FFF2-40B4-BE49-F238E27FC236}">
                <a16:creationId xmlns:a16="http://schemas.microsoft.com/office/drawing/2014/main" id="{131C1A1C-A79B-F6E4-9BC2-C45BFBC982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9779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3">
          <a:extLst>
            <a:ext uri="{FF2B5EF4-FFF2-40B4-BE49-F238E27FC236}">
              <a16:creationId xmlns:a16="http://schemas.microsoft.com/office/drawing/2014/main" id="{8922A304-C0CA-6D89-4B59-AFAD47059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g25256bc2c4a_5_1121:notes">
            <a:extLst>
              <a:ext uri="{FF2B5EF4-FFF2-40B4-BE49-F238E27FC236}">
                <a16:creationId xmlns:a16="http://schemas.microsoft.com/office/drawing/2014/main" id="{EFA27401-15F8-DEF3-A52A-777E363E15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5" name="Google Shape;2315;g25256bc2c4a_5_1121:notes">
            <a:extLst>
              <a:ext uri="{FF2B5EF4-FFF2-40B4-BE49-F238E27FC236}">
                <a16:creationId xmlns:a16="http://schemas.microsoft.com/office/drawing/2014/main" id="{352513AF-2A7B-5EEC-1C0E-6A59DF934E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3469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3">
          <a:extLst>
            <a:ext uri="{FF2B5EF4-FFF2-40B4-BE49-F238E27FC236}">
              <a16:creationId xmlns:a16="http://schemas.microsoft.com/office/drawing/2014/main" id="{7E257DF2-92BE-9773-69CF-7A12DAD3B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g25256bc2c4a_5_1121:notes">
            <a:extLst>
              <a:ext uri="{FF2B5EF4-FFF2-40B4-BE49-F238E27FC236}">
                <a16:creationId xmlns:a16="http://schemas.microsoft.com/office/drawing/2014/main" id="{14A501C6-3CB0-8173-E39F-639081378E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5" name="Google Shape;2315;g25256bc2c4a_5_1121:notes">
            <a:extLst>
              <a:ext uri="{FF2B5EF4-FFF2-40B4-BE49-F238E27FC236}">
                <a16:creationId xmlns:a16="http://schemas.microsoft.com/office/drawing/2014/main" id="{C4EBC912-0BDA-3F90-4048-68D980E8F2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79171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3">
          <a:extLst>
            <a:ext uri="{FF2B5EF4-FFF2-40B4-BE49-F238E27FC236}">
              <a16:creationId xmlns:a16="http://schemas.microsoft.com/office/drawing/2014/main" id="{123C6745-BD58-F7D6-5812-9F9073261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g25256bc2c4a_5_1121:notes">
            <a:extLst>
              <a:ext uri="{FF2B5EF4-FFF2-40B4-BE49-F238E27FC236}">
                <a16:creationId xmlns:a16="http://schemas.microsoft.com/office/drawing/2014/main" id="{CAA2723B-BA29-5B67-451D-270FC226C9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5" name="Google Shape;2315;g25256bc2c4a_5_1121:notes">
            <a:extLst>
              <a:ext uri="{FF2B5EF4-FFF2-40B4-BE49-F238E27FC236}">
                <a16:creationId xmlns:a16="http://schemas.microsoft.com/office/drawing/2014/main" id="{67B931B5-7717-D7BE-C3AF-B4AC9F737F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7139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3">
          <a:extLst>
            <a:ext uri="{FF2B5EF4-FFF2-40B4-BE49-F238E27FC236}">
              <a16:creationId xmlns:a16="http://schemas.microsoft.com/office/drawing/2014/main" id="{E6349171-3207-96C9-2BE2-4F73E698F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g25256bc2c4a_5_1121:notes">
            <a:extLst>
              <a:ext uri="{FF2B5EF4-FFF2-40B4-BE49-F238E27FC236}">
                <a16:creationId xmlns:a16="http://schemas.microsoft.com/office/drawing/2014/main" id="{171B75EB-C0DB-C641-AAB0-6C4B3CE100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5" name="Google Shape;2315;g25256bc2c4a_5_1121:notes">
            <a:extLst>
              <a:ext uri="{FF2B5EF4-FFF2-40B4-BE49-F238E27FC236}">
                <a16:creationId xmlns:a16="http://schemas.microsoft.com/office/drawing/2014/main" id="{696F5516-49E0-5380-793F-54D46CE66A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69797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3">
          <a:extLst>
            <a:ext uri="{FF2B5EF4-FFF2-40B4-BE49-F238E27FC236}">
              <a16:creationId xmlns:a16="http://schemas.microsoft.com/office/drawing/2014/main" id="{9787E256-E222-D4D4-2EF9-3C7A0A6C7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g25256bc2c4a_5_1121:notes">
            <a:extLst>
              <a:ext uri="{FF2B5EF4-FFF2-40B4-BE49-F238E27FC236}">
                <a16:creationId xmlns:a16="http://schemas.microsoft.com/office/drawing/2014/main" id="{60943EDA-264B-0B8A-5B37-7EED4ABEFA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5" name="Google Shape;2315;g25256bc2c4a_5_1121:notes">
            <a:extLst>
              <a:ext uri="{FF2B5EF4-FFF2-40B4-BE49-F238E27FC236}">
                <a16:creationId xmlns:a16="http://schemas.microsoft.com/office/drawing/2014/main" id="{46129784-15F6-9B7C-857C-A0473C9327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09762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3">
          <a:extLst>
            <a:ext uri="{FF2B5EF4-FFF2-40B4-BE49-F238E27FC236}">
              <a16:creationId xmlns:a16="http://schemas.microsoft.com/office/drawing/2014/main" id="{B1CEA800-2DEC-138E-6348-DE71B6EC6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g25256bc2c4a_5_1121:notes">
            <a:extLst>
              <a:ext uri="{FF2B5EF4-FFF2-40B4-BE49-F238E27FC236}">
                <a16:creationId xmlns:a16="http://schemas.microsoft.com/office/drawing/2014/main" id="{2BE901D6-2A4C-91F7-139D-0778AD72DD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5" name="Google Shape;2315;g25256bc2c4a_5_1121:notes">
            <a:extLst>
              <a:ext uri="{FF2B5EF4-FFF2-40B4-BE49-F238E27FC236}">
                <a16:creationId xmlns:a16="http://schemas.microsoft.com/office/drawing/2014/main" id="{035F7E26-FC24-C9F0-0691-602843AC53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0777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3">
          <a:extLst>
            <a:ext uri="{FF2B5EF4-FFF2-40B4-BE49-F238E27FC236}">
              <a16:creationId xmlns:a16="http://schemas.microsoft.com/office/drawing/2014/main" id="{9B5B1CC0-21EB-0C02-40B7-B17FA519C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g25256bc2c4a_5_1121:notes">
            <a:extLst>
              <a:ext uri="{FF2B5EF4-FFF2-40B4-BE49-F238E27FC236}">
                <a16:creationId xmlns:a16="http://schemas.microsoft.com/office/drawing/2014/main" id="{B011940C-2092-1F8D-7B05-7CEFF67853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5" name="Google Shape;2315;g25256bc2c4a_5_1121:notes">
            <a:extLst>
              <a:ext uri="{FF2B5EF4-FFF2-40B4-BE49-F238E27FC236}">
                <a16:creationId xmlns:a16="http://schemas.microsoft.com/office/drawing/2014/main" id="{C91B4E69-82F8-9C15-D91C-3B39393BB5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09930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3">
          <a:extLst>
            <a:ext uri="{FF2B5EF4-FFF2-40B4-BE49-F238E27FC236}">
              <a16:creationId xmlns:a16="http://schemas.microsoft.com/office/drawing/2014/main" id="{2F740BE6-286C-12DF-78A0-8B2E2B9A8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g25256bc2c4a_5_1121:notes">
            <a:extLst>
              <a:ext uri="{FF2B5EF4-FFF2-40B4-BE49-F238E27FC236}">
                <a16:creationId xmlns:a16="http://schemas.microsoft.com/office/drawing/2014/main" id="{F0DA1D21-1AA4-CFC2-A8F0-7BF008E307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5" name="Google Shape;2315;g25256bc2c4a_5_1121:notes">
            <a:extLst>
              <a:ext uri="{FF2B5EF4-FFF2-40B4-BE49-F238E27FC236}">
                <a16:creationId xmlns:a16="http://schemas.microsoft.com/office/drawing/2014/main" id="{7587D2D0-9249-A910-CE3E-0B716B6DE5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14645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3">
          <a:extLst>
            <a:ext uri="{FF2B5EF4-FFF2-40B4-BE49-F238E27FC236}">
              <a16:creationId xmlns:a16="http://schemas.microsoft.com/office/drawing/2014/main" id="{FE42C370-43C4-E586-191E-033714D92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g25256bc2c4a_5_1121:notes">
            <a:extLst>
              <a:ext uri="{FF2B5EF4-FFF2-40B4-BE49-F238E27FC236}">
                <a16:creationId xmlns:a16="http://schemas.microsoft.com/office/drawing/2014/main" id="{01DBE092-D6AE-B5CE-D4B3-46F69DDBD3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5" name="Google Shape;2315;g25256bc2c4a_5_1121:notes">
            <a:extLst>
              <a:ext uri="{FF2B5EF4-FFF2-40B4-BE49-F238E27FC236}">
                <a16:creationId xmlns:a16="http://schemas.microsoft.com/office/drawing/2014/main" id="{CE4447C1-A8DA-3988-1B6B-FCE7980A87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43282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3">
          <a:extLst>
            <a:ext uri="{FF2B5EF4-FFF2-40B4-BE49-F238E27FC236}">
              <a16:creationId xmlns:a16="http://schemas.microsoft.com/office/drawing/2014/main" id="{AE7E486B-D152-8A06-8710-5D51D209E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g25256bc2c4a_5_1121:notes">
            <a:extLst>
              <a:ext uri="{FF2B5EF4-FFF2-40B4-BE49-F238E27FC236}">
                <a16:creationId xmlns:a16="http://schemas.microsoft.com/office/drawing/2014/main" id="{8B6811A7-9F5D-42C5-B182-2DC62C25DE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15" name="Google Shape;2315;g25256bc2c4a_5_1121:notes">
            <a:extLst>
              <a:ext uri="{FF2B5EF4-FFF2-40B4-BE49-F238E27FC236}">
                <a16:creationId xmlns:a16="http://schemas.microsoft.com/office/drawing/2014/main" id="{2322241E-0E8E-B706-DB4A-65AD8BB674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98862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3">
          <a:extLst>
            <a:ext uri="{FF2B5EF4-FFF2-40B4-BE49-F238E27FC236}">
              <a16:creationId xmlns:a16="http://schemas.microsoft.com/office/drawing/2014/main" id="{37A3EB7F-4D34-460F-1AB2-E20E5D2FE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g25256bc2c4a_5_1121:notes">
            <a:extLst>
              <a:ext uri="{FF2B5EF4-FFF2-40B4-BE49-F238E27FC236}">
                <a16:creationId xmlns:a16="http://schemas.microsoft.com/office/drawing/2014/main" id="{554517DD-706B-2067-A28B-B2C724932C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15" name="Google Shape;2315;g25256bc2c4a_5_1121:notes">
            <a:extLst>
              <a:ext uri="{FF2B5EF4-FFF2-40B4-BE49-F238E27FC236}">
                <a16:creationId xmlns:a16="http://schemas.microsoft.com/office/drawing/2014/main" id="{95DA4776-F34D-BC3C-C3EC-BCD765C463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1590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87691" y="795838"/>
            <a:ext cx="4207800" cy="30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Loved by the King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87575" y="3981963"/>
            <a:ext cx="4208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>
            <a:off x="5013300" y="696163"/>
            <a:ext cx="4130700" cy="3751200"/>
          </a:xfrm>
          <a:prstGeom prst="rect">
            <a:avLst/>
          </a:prstGeom>
          <a:noFill/>
          <a:ln>
            <a:noFill/>
          </a:ln>
        </p:spPr>
      </p:sp>
      <p:sp>
        <p:nvSpPr>
          <p:cNvPr id="13" name="Google Shape;13;p2"/>
          <p:cNvSpPr/>
          <p:nvPr/>
        </p:nvSpPr>
        <p:spPr>
          <a:xfrm>
            <a:off x="6907725" y="0"/>
            <a:ext cx="2236200" cy="51435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-1097575" y="-1229625"/>
            <a:ext cx="2111100" cy="21111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1064275" y="207200"/>
            <a:ext cx="192600" cy="1926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" name="Google Shape;16;p2"/>
          <p:cNvGrpSpPr/>
          <p:nvPr/>
        </p:nvGrpSpPr>
        <p:grpSpPr>
          <a:xfrm>
            <a:off x="5204175" y="213729"/>
            <a:ext cx="1534300" cy="69950"/>
            <a:chOff x="1213675" y="3814125"/>
            <a:chExt cx="1534300" cy="69950"/>
          </a:xfrm>
        </p:grpSpPr>
        <p:sp>
          <p:nvSpPr>
            <p:cNvPr id="17" name="Google Shape;17;p2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77466" y="2357054"/>
            <a:ext cx="4609976" cy="26839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oogle Shape;21;p2"/>
          <p:cNvGrpSpPr/>
          <p:nvPr/>
        </p:nvGrpSpPr>
        <p:grpSpPr>
          <a:xfrm flipH="1">
            <a:off x="72646" y="4216148"/>
            <a:ext cx="552100" cy="760450"/>
            <a:chOff x="1169050" y="238125"/>
            <a:chExt cx="552100" cy="760450"/>
          </a:xfrm>
        </p:grpSpPr>
        <p:sp>
          <p:nvSpPr>
            <p:cNvPr id="22" name="Google Shape;22;p2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"/>
          <p:cNvSpPr/>
          <p:nvPr/>
        </p:nvSpPr>
        <p:spPr>
          <a:xfrm>
            <a:off x="7913600" y="-1432975"/>
            <a:ext cx="2111100" cy="21111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"/>
          <p:cNvSpPr/>
          <p:nvPr/>
        </p:nvSpPr>
        <p:spPr>
          <a:xfrm>
            <a:off x="8727075" y="774425"/>
            <a:ext cx="192600" cy="1926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4"/>
          <p:cNvSpPr/>
          <p:nvPr/>
        </p:nvSpPr>
        <p:spPr>
          <a:xfrm>
            <a:off x="7797200" y="173150"/>
            <a:ext cx="118800" cy="118800"/>
          </a:xfrm>
          <a:prstGeom prst="ellipse">
            <a:avLst/>
          </a:prstGeom>
          <a:solidFill>
            <a:srgbClr val="065E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4" name="Google Shape;394;p4"/>
          <p:cNvGrpSpPr/>
          <p:nvPr/>
        </p:nvGrpSpPr>
        <p:grpSpPr>
          <a:xfrm flipH="1">
            <a:off x="8783835" y="4114547"/>
            <a:ext cx="463081" cy="637837"/>
            <a:chOff x="1169050" y="238125"/>
            <a:chExt cx="552100" cy="760450"/>
          </a:xfrm>
        </p:grpSpPr>
        <p:sp>
          <p:nvSpPr>
            <p:cNvPr id="395" name="Google Shape;395;p4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4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4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4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4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4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4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4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4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4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4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4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1" name="Google Shape;411;p4"/>
          <p:cNvSpPr/>
          <p:nvPr/>
        </p:nvSpPr>
        <p:spPr>
          <a:xfrm>
            <a:off x="0" y="0"/>
            <a:ext cx="720000" cy="51435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2" name="Google Shape;412;p4"/>
          <p:cNvGrpSpPr/>
          <p:nvPr/>
        </p:nvGrpSpPr>
        <p:grpSpPr>
          <a:xfrm rot="-5400000">
            <a:off x="-407150" y="4227079"/>
            <a:ext cx="1534300" cy="69950"/>
            <a:chOff x="1213675" y="3814125"/>
            <a:chExt cx="1534300" cy="69950"/>
          </a:xfrm>
        </p:grpSpPr>
        <p:sp>
          <p:nvSpPr>
            <p:cNvPr id="413" name="Google Shape;413;p4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4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4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6" name="Google Shape;416;p4"/>
          <p:cNvSpPr txBox="1">
            <a:spLocks noGrp="1"/>
          </p:cNvSpPr>
          <p:nvPr>
            <p:ph type="body" idx="1"/>
          </p:nvPr>
        </p:nvSpPr>
        <p:spPr>
          <a:xfrm>
            <a:off x="2238000" y="1633800"/>
            <a:ext cx="4668000" cy="21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115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17" name="Google Shape;417;p4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9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47" name="Google Shape;847;p9"/>
          <p:cNvSpPr txBox="1">
            <a:spLocks noGrp="1"/>
          </p:cNvSpPr>
          <p:nvPr>
            <p:ph type="body" idx="1"/>
          </p:nvPr>
        </p:nvSpPr>
        <p:spPr>
          <a:xfrm>
            <a:off x="716900" y="1051849"/>
            <a:ext cx="7704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 SemiBold"/>
              <a:buAutoNum type="arabicPeriod"/>
              <a:defRPr/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9pPr>
          </a:lstStyle>
          <a:p>
            <a:endParaRPr/>
          </a:p>
        </p:txBody>
      </p:sp>
      <p:sp>
        <p:nvSpPr>
          <p:cNvPr id="848" name="Google Shape;848;p9"/>
          <p:cNvSpPr/>
          <p:nvPr/>
        </p:nvSpPr>
        <p:spPr>
          <a:xfrm>
            <a:off x="7913600" y="-1432975"/>
            <a:ext cx="2111100" cy="21111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9"/>
          <p:cNvSpPr/>
          <p:nvPr/>
        </p:nvSpPr>
        <p:spPr>
          <a:xfrm>
            <a:off x="8727075" y="774425"/>
            <a:ext cx="192600" cy="1926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9"/>
          <p:cNvSpPr/>
          <p:nvPr/>
        </p:nvSpPr>
        <p:spPr>
          <a:xfrm>
            <a:off x="7797200" y="173150"/>
            <a:ext cx="118800" cy="118800"/>
          </a:xfrm>
          <a:prstGeom prst="ellipse">
            <a:avLst/>
          </a:prstGeom>
          <a:solidFill>
            <a:srgbClr val="065E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1" name="Google Shape;851;p9"/>
          <p:cNvGrpSpPr/>
          <p:nvPr/>
        </p:nvGrpSpPr>
        <p:grpSpPr>
          <a:xfrm flipH="1">
            <a:off x="8725991" y="4082568"/>
            <a:ext cx="552100" cy="760450"/>
            <a:chOff x="1169050" y="238125"/>
            <a:chExt cx="552100" cy="760450"/>
          </a:xfrm>
          <a:solidFill>
            <a:schemeClr val="accent1">
              <a:lumMod val="85000"/>
            </a:schemeClr>
          </a:solidFill>
        </p:grpSpPr>
        <p:sp>
          <p:nvSpPr>
            <p:cNvPr id="852" name="Google Shape;852;p9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9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9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9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9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9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9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9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9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9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9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9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9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9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9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9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8" name="Google Shape;868;p9"/>
          <p:cNvSpPr/>
          <p:nvPr/>
        </p:nvSpPr>
        <p:spPr>
          <a:xfrm>
            <a:off x="-3100" y="0"/>
            <a:ext cx="720000" cy="51435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9" name="Google Shape;869;p9"/>
          <p:cNvGrpSpPr/>
          <p:nvPr/>
        </p:nvGrpSpPr>
        <p:grpSpPr>
          <a:xfrm rot="-5400000">
            <a:off x="-407150" y="4227079"/>
            <a:ext cx="1534300" cy="69950"/>
            <a:chOff x="1213675" y="3814125"/>
            <a:chExt cx="1534300" cy="69950"/>
          </a:xfrm>
        </p:grpSpPr>
        <p:sp>
          <p:nvSpPr>
            <p:cNvPr id="870" name="Google Shape;870;p9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9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9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3" name="Google Shape;873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5" name="Google Shape;875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479276" y="-40947"/>
            <a:ext cx="4609976" cy="2683970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10"/>
          <p:cNvSpPr txBox="1">
            <a:spLocks noGrp="1"/>
          </p:cNvSpPr>
          <p:nvPr>
            <p:ph type="title"/>
          </p:nvPr>
        </p:nvSpPr>
        <p:spPr>
          <a:xfrm>
            <a:off x="4378200" y="1235850"/>
            <a:ext cx="4049700" cy="13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77" name="Google Shape;877;p10"/>
          <p:cNvSpPr txBox="1">
            <a:spLocks noGrp="1"/>
          </p:cNvSpPr>
          <p:nvPr>
            <p:ph type="subTitle" idx="1"/>
          </p:nvPr>
        </p:nvSpPr>
        <p:spPr>
          <a:xfrm>
            <a:off x="4378200" y="2745750"/>
            <a:ext cx="40497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8" name="Google Shape;878;p10"/>
          <p:cNvSpPr>
            <a:spLocks noGrp="1"/>
          </p:cNvSpPr>
          <p:nvPr>
            <p:ph type="pic" idx="2"/>
          </p:nvPr>
        </p:nvSpPr>
        <p:spPr>
          <a:xfrm>
            <a:off x="0" y="696150"/>
            <a:ext cx="4130700" cy="37512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10"/>
          <p:cNvSpPr/>
          <p:nvPr/>
        </p:nvSpPr>
        <p:spPr>
          <a:xfrm>
            <a:off x="0" y="0"/>
            <a:ext cx="2236200" cy="51435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0" name="Google Shape;880;p10"/>
          <p:cNvGrpSpPr/>
          <p:nvPr/>
        </p:nvGrpSpPr>
        <p:grpSpPr>
          <a:xfrm>
            <a:off x="7408850" y="245829"/>
            <a:ext cx="1534300" cy="69950"/>
            <a:chOff x="1213675" y="3814125"/>
            <a:chExt cx="1534300" cy="69950"/>
          </a:xfrm>
        </p:grpSpPr>
        <p:sp>
          <p:nvSpPr>
            <p:cNvPr id="881" name="Google Shape;881;p10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10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10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4" name="Google Shape;884;p10"/>
          <p:cNvSpPr/>
          <p:nvPr/>
        </p:nvSpPr>
        <p:spPr>
          <a:xfrm>
            <a:off x="8750550" y="3867450"/>
            <a:ext cx="192600" cy="192600"/>
          </a:xfrm>
          <a:prstGeom prst="ellipse">
            <a:avLst/>
          </a:prstGeom>
          <a:solidFill>
            <a:srgbClr val="065E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10"/>
          <p:cNvSpPr/>
          <p:nvPr/>
        </p:nvSpPr>
        <p:spPr>
          <a:xfrm>
            <a:off x="8299000" y="4060050"/>
            <a:ext cx="2111100" cy="2111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10"/>
          <p:cNvSpPr/>
          <p:nvPr/>
        </p:nvSpPr>
        <p:spPr>
          <a:xfrm>
            <a:off x="7999325" y="4787750"/>
            <a:ext cx="192600" cy="192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2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11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90" name="Google Shape;890;p11"/>
          <p:cNvSpPr/>
          <p:nvPr/>
        </p:nvSpPr>
        <p:spPr>
          <a:xfrm>
            <a:off x="7913600" y="-1432975"/>
            <a:ext cx="2111100" cy="21111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11"/>
          <p:cNvSpPr/>
          <p:nvPr/>
        </p:nvSpPr>
        <p:spPr>
          <a:xfrm>
            <a:off x="8717396" y="782028"/>
            <a:ext cx="192600" cy="1926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11"/>
          <p:cNvSpPr/>
          <p:nvPr/>
        </p:nvSpPr>
        <p:spPr>
          <a:xfrm>
            <a:off x="7797200" y="173150"/>
            <a:ext cx="118800" cy="118800"/>
          </a:xfrm>
          <a:prstGeom prst="ellipse">
            <a:avLst/>
          </a:prstGeom>
          <a:solidFill>
            <a:srgbClr val="065E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3" name="Google Shape;893;p11"/>
          <p:cNvGrpSpPr/>
          <p:nvPr/>
        </p:nvGrpSpPr>
        <p:grpSpPr>
          <a:xfrm flipH="1">
            <a:off x="8547321" y="4219198"/>
            <a:ext cx="552100" cy="760450"/>
            <a:chOff x="1169050" y="238125"/>
            <a:chExt cx="552100" cy="760450"/>
          </a:xfrm>
        </p:grpSpPr>
        <p:sp>
          <p:nvSpPr>
            <p:cNvPr id="894" name="Google Shape;894;p11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11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11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11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11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0" name="Google Shape;910;p11"/>
          <p:cNvSpPr/>
          <p:nvPr/>
        </p:nvSpPr>
        <p:spPr>
          <a:xfrm>
            <a:off x="-7484" y="0"/>
            <a:ext cx="720000" cy="51435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1" name="Google Shape;911;p11"/>
          <p:cNvGrpSpPr/>
          <p:nvPr/>
        </p:nvGrpSpPr>
        <p:grpSpPr>
          <a:xfrm rot="-5400000">
            <a:off x="-407150" y="4227079"/>
            <a:ext cx="1534300" cy="69950"/>
            <a:chOff x="1213675" y="3814125"/>
            <a:chExt cx="1534300" cy="69950"/>
          </a:xfrm>
        </p:grpSpPr>
        <p:sp>
          <p:nvSpPr>
            <p:cNvPr id="912" name="Google Shape;912;p11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11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11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5" name="Google Shape;915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4"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2"/>
          <p:cNvSpPr/>
          <p:nvPr/>
        </p:nvSpPr>
        <p:spPr>
          <a:xfrm>
            <a:off x="6907800" y="0"/>
            <a:ext cx="2236200" cy="51435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12"/>
          <p:cNvSpPr txBox="1">
            <a:spLocks noGrp="1"/>
          </p:cNvSpPr>
          <p:nvPr>
            <p:ph type="title"/>
          </p:nvPr>
        </p:nvSpPr>
        <p:spPr>
          <a:xfrm>
            <a:off x="685063" y="3543099"/>
            <a:ext cx="419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19" name="Google Shape;919;p12"/>
          <p:cNvSpPr txBox="1">
            <a:spLocks noGrp="1"/>
          </p:cNvSpPr>
          <p:nvPr>
            <p:ph type="subTitle" idx="1"/>
          </p:nvPr>
        </p:nvSpPr>
        <p:spPr>
          <a:xfrm>
            <a:off x="684300" y="1143201"/>
            <a:ext cx="4200600" cy="2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0" name="Google Shape;920;p12"/>
          <p:cNvSpPr/>
          <p:nvPr/>
        </p:nvSpPr>
        <p:spPr>
          <a:xfrm>
            <a:off x="-1097575" y="-1229625"/>
            <a:ext cx="2111100" cy="21111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12"/>
          <p:cNvSpPr/>
          <p:nvPr/>
        </p:nvSpPr>
        <p:spPr>
          <a:xfrm>
            <a:off x="1064275" y="207200"/>
            <a:ext cx="192600" cy="1926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2" name="Google Shape;922;p12"/>
          <p:cNvGrpSpPr/>
          <p:nvPr/>
        </p:nvGrpSpPr>
        <p:grpSpPr>
          <a:xfrm>
            <a:off x="5204175" y="213729"/>
            <a:ext cx="1534300" cy="69950"/>
            <a:chOff x="1213675" y="3814125"/>
            <a:chExt cx="1534300" cy="69950"/>
          </a:xfrm>
        </p:grpSpPr>
        <p:sp>
          <p:nvSpPr>
            <p:cNvPr id="923" name="Google Shape;923;p12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12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12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6" name="Google Shape;926;p12"/>
          <p:cNvGrpSpPr/>
          <p:nvPr/>
        </p:nvGrpSpPr>
        <p:grpSpPr>
          <a:xfrm flipH="1">
            <a:off x="72646" y="4216148"/>
            <a:ext cx="552100" cy="760450"/>
            <a:chOff x="1169050" y="238125"/>
            <a:chExt cx="552100" cy="760450"/>
          </a:xfrm>
        </p:grpSpPr>
        <p:sp>
          <p:nvSpPr>
            <p:cNvPr id="927" name="Google Shape;927;p12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12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12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12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12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12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12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12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12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12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12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12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12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12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12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12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3" name="Google Shape;943;p12"/>
          <p:cNvGrpSpPr/>
          <p:nvPr/>
        </p:nvGrpSpPr>
        <p:grpSpPr>
          <a:xfrm>
            <a:off x="8079725" y="382751"/>
            <a:ext cx="552100" cy="760450"/>
            <a:chOff x="1169050" y="238125"/>
            <a:chExt cx="552100" cy="760450"/>
          </a:xfrm>
        </p:grpSpPr>
        <p:sp>
          <p:nvSpPr>
            <p:cNvPr id="944" name="Google Shape;944;p12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12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12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12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12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12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12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12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12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12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12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12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12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12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12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12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0" name="Google Shape;960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3"/>
          <p:cNvSpPr>
            <a:spLocks noGrp="1"/>
          </p:cNvSpPr>
          <p:nvPr>
            <p:ph type="pic" idx="2"/>
          </p:nvPr>
        </p:nvSpPr>
        <p:spPr>
          <a:xfrm flipH="1">
            <a:off x="5594100" y="760350"/>
            <a:ext cx="3549900" cy="3751200"/>
          </a:xfrm>
          <a:prstGeom prst="rect">
            <a:avLst/>
          </a:prstGeom>
          <a:noFill/>
          <a:ln>
            <a:noFill/>
          </a:ln>
        </p:spPr>
      </p:sp>
      <p:sp>
        <p:nvSpPr>
          <p:cNvPr id="963" name="Google Shape;963;p13"/>
          <p:cNvSpPr txBox="1">
            <a:spLocks noGrp="1"/>
          </p:cNvSpPr>
          <p:nvPr>
            <p:ph type="title"/>
          </p:nvPr>
        </p:nvSpPr>
        <p:spPr>
          <a:xfrm>
            <a:off x="1552450" y="1192675"/>
            <a:ext cx="3963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latin typeface="Exo SemiBold"/>
                <a:ea typeface="Exo SemiBold"/>
                <a:cs typeface="Exo SemiBold"/>
                <a:sym typeface="Ex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64" name="Google Shape;964;p13"/>
          <p:cNvSpPr txBox="1">
            <a:spLocks noGrp="1"/>
          </p:cNvSpPr>
          <p:nvPr>
            <p:ph type="title" idx="3"/>
          </p:nvPr>
        </p:nvSpPr>
        <p:spPr>
          <a:xfrm>
            <a:off x="1552450" y="3095130"/>
            <a:ext cx="3963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latin typeface="Exo SemiBold"/>
                <a:ea typeface="Exo SemiBold"/>
                <a:cs typeface="Exo SemiBold"/>
                <a:sym typeface="Ex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65" name="Google Shape;965;p13"/>
          <p:cNvSpPr txBox="1">
            <a:spLocks noGrp="1"/>
          </p:cNvSpPr>
          <p:nvPr>
            <p:ph type="subTitle" idx="1"/>
          </p:nvPr>
        </p:nvSpPr>
        <p:spPr>
          <a:xfrm>
            <a:off x="1552450" y="3311754"/>
            <a:ext cx="3963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●"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966" name="Google Shape;966;p13"/>
          <p:cNvSpPr txBox="1">
            <a:spLocks noGrp="1"/>
          </p:cNvSpPr>
          <p:nvPr>
            <p:ph type="subTitle" idx="4"/>
          </p:nvPr>
        </p:nvSpPr>
        <p:spPr>
          <a:xfrm>
            <a:off x="1552450" y="1409299"/>
            <a:ext cx="3964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●"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967" name="Google Shape;967;p13"/>
          <p:cNvSpPr txBox="1">
            <a:spLocks noGrp="1"/>
          </p:cNvSpPr>
          <p:nvPr>
            <p:ph type="title" idx="5"/>
          </p:nvPr>
        </p:nvSpPr>
        <p:spPr>
          <a:xfrm>
            <a:off x="720000" y="365750"/>
            <a:ext cx="4874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68" name="Google Shape;968;p13"/>
          <p:cNvSpPr/>
          <p:nvPr/>
        </p:nvSpPr>
        <p:spPr>
          <a:xfrm flipH="1">
            <a:off x="8430900" y="0"/>
            <a:ext cx="713100" cy="51435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9" name="Google Shape;969;p13"/>
          <p:cNvGrpSpPr/>
          <p:nvPr/>
        </p:nvGrpSpPr>
        <p:grpSpPr>
          <a:xfrm flipH="1">
            <a:off x="170111" y="245829"/>
            <a:ext cx="1534300" cy="69950"/>
            <a:chOff x="1213675" y="3814125"/>
            <a:chExt cx="1534300" cy="69950"/>
          </a:xfrm>
        </p:grpSpPr>
        <p:sp>
          <p:nvSpPr>
            <p:cNvPr id="970" name="Google Shape;970;p13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13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3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3" name="Google Shape;973;p13"/>
          <p:cNvGrpSpPr/>
          <p:nvPr/>
        </p:nvGrpSpPr>
        <p:grpSpPr>
          <a:xfrm>
            <a:off x="81599" y="650998"/>
            <a:ext cx="552100" cy="760450"/>
            <a:chOff x="1169050" y="238125"/>
            <a:chExt cx="552100" cy="760450"/>
          </a:xfrm>
        </p:grpSpPr>
        <p:sp>
          <p:nvSpPr>
            <p:cNvPr id="974" name="Google Shape;974;p13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13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13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3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13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13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13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13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13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13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13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3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13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13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13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13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rgbClr val="FF7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90" name="Google Shape;99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6198197" y="-1587250"/>
            <a:ext cx="2013547" cy="200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-319453" y="4599425"/>
            <a:ext cx="2013547" cy="2008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13"/>
          <p:cNvSpPr/>
          <p:nvPr/>
        </p:nvSpPr>
        <p:spPr>
          <a:xfrm flipH="1">
            <a:off x="8062386" y="4711550"/>
            <a:ext cx="192600" cy="192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13"/>
          <p:cNvSpPr/>
          <p:nvPr/>
        </p:nvSpPr>
        <p:spPr>
          <a:xfrm flipH="1">
            <a:off x="7698511" y="4807875"/>
            <a:ext cx="192600" cy="1926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4"/>
          <p:cNvSpPr/>
          <p:nvPr/>
        </p:nvSpPr>
        <p:spPr>
          <a:xfrm flipH="1">
            <a:off x="-15685" y="0"/>
            <a:ext cx="2236200" cy="51435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14"/>
          <p:cNvSpPr>
            <a:spLocks noGrp="1"/>
          </p:cNvSpPr>
          <p:nvPr>
            <p:ph type="pic" idx="2"/>
          </p:nvPr>
        </p:nvSpPr>
        <p:spPr>
          <a:xfrm>
            <a:off x="-10702" y="696150"/>
            <a:ext cx="4130700" cy="3751200"/>
          </a:xfrm>
          <a:prstGeom prst="rect">
            <a:avLst/>
          </a:prstGeom>
          <a:noFill/>
          <a:ln>
            <a:noFill/>
          </a:ln>
        </p:spPr>
      </p:sp>
      <p:sp>
        <p:nvSpPr>
          <p:cNvPr id="998" name="Google Shape;998;p14"/>
          <p:cNvSpPr txBox="1">
            <a:spLocks noGrp="1"/>
          </p:cNvSpPr>
          <p:nvPr>
            <p:ph type="title"/>
          </p:nvPr>
        </p:nvSpPr>
        <p:spPr>
          <a:xfrm>
            <a:off x="4551189" y="576050"/>
            <a:ext cx="38682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99" name="Google Shape;999;p14"/>
          <p:cNvSpPr txBox="1">
            <a:spLocks noGrp="1"/>
          </p:cNvSpPr>
          <p:nvPr>
            <p:ph type="subTitle" idx="1"/>
          </p:nvPr>
        </p:nvSpPr>
        <p:spPr>
          <a:xfrm>
            <a:off x="4548375" y="1674598"/>
            <a:ext cx="3870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0" name="Google Shape;1000;p14"/>
          <p:cNvSpPr txBox="1"/>
          <p:nvPr/>
        </p:nvSpPr>
        <p:spPr>
          <a:xfrm>
            <a:off x="4724475" y="3577775"/>
            <a:ext cx="3694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CREDITS: This presentation template was created by </a:t>
            </a:r>
            <a:r>
              <a:rPr lang="fr" sz="1200" b="1" i="0" u="none" strike="noStrike" cap="none">
                <a:solidFill>
                  <a:schemeClr val="hlink"/>
                </a:solidFill>
                <a:uFill>
                  <a:noFill/>
                </a:uFill>
                <a:latin typeface="Gothic A1"/>
                <a:ea typeface="Gothic A1"/>
                <a:cs typeface="Gothic A1"/>
                <a:sym typeface="Gothic A1"/>
                <a:hlinkClick r:id="rId2"/>
              </a:rPr>
              <a:t>Slidesgo</a:t>
            </a:r>
            <a:r>
              <a:rPr lang="fr" sz="1200" b="0" i="0" u="none" strike="noStrike" cap="none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, including icons by </a:t>
            </a:r>
            <a:r>
              <a:rPr lang="fr" sz="1200" b="1" i="0" u="none" strike="noStrike" cap="none">
                <a:solidFill>
                  <a:schemeClr val="hlink"/>
                </a:solidFill>
                <a:uFill>
                  <a:noFill/>
                </a:uFill>
                <a:latin typeface="Gothic A1"/>
                <a:ea typeface="Gothic A1"/>
                <a:cs typeface="Gothic A1"/>
                <a:sym typeface="Gothic A1"/>
                <a:hlinkClick r:id="rId3"/>
              </a:rPr>
              <a:t>Flaticon</a:t>
            </a:r>
            <a:r>
              <a:rPr lang="fr" sz="1200" b="0" i="0" u="none" strike="noStrike" cap="none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, infographics &amp; images by </a:t>
            </a:r>
            <a:r>
              <a:rPr lang="fr" sz="1200" b="1" i="0" u="none" strike="noStrike" cap="none">
                <a:solidFill>
                  <a:schemeClr val="hlink"/>
                </a:solidFill>
                <a:uFill>
                  <a:noFill/>
                </a:uFill>
                <a:latin typeface="Gothic A1"/>
                <a:ea typeface="Gothic A1"/>
                <a:cs typeface="Gothic A1"/>
                <a:sym typeface="Gothic A1"/>
                <a:hlinkClick r:id="rId4"/>
              </a:rPr>
              <a:t>Freepik</a:t>
            </a:r>
            <a:endParaRPr sz="1200" b="1" i="0" u="none" strike="noStrike" cap="none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001" name="Google Shape;1001;p14"/>
          <p:cNvSpPr/>
          <p:nvPr/>
        </p:nvSpPr>
        <p:spPr>
          <a:xfrm flipH="1">
            <a:off x="8092026" y="-1229625"/>
            <a:ext cx="2111100" cy="21111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14"/>
          <p:cNvSpPr/>
          <p:nvPr/>
        </p:nvSpPr>
        <p:spPr>
          <a:xfrm flipH="1">
            <a:off x="7848676" y="207200"/>
            <a:ext cx="192600" cy="192600"/>
          </a:xfrm>
          <a:prstGeom prst="ellipse">
            <a:avLst/>
          </a:prstGeom>
          <a:solidFill>
            <a:srgbClr val="FF7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3" name="Google Shape;1003;p14"/>
          <p:cNvGrpSpPr/>
          <p:nvPr/>
        </p:nvGrpSpPr>
        <p:grpSpPr>
          <a:xfrm flipH="1">
            <a:off x="2367076" y="213729"/>
            <a:ext cx="1534300" cy="69950"/>
            <a:chOff x="1213675" y="3814125"/>
            <a:chExt cx="1534300" cy="69950"/>
          </a:xfrm>
        </p:grpSpPr>
        <p:sp>
          <p:nvSpPr>
            <p:cNvPr id="1004" name="Google Shape;1004;p14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14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14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7" name="Google Shape;1007;p14"/>
          <p:cNvGrpSpPr/>
          <p:nvPr/>
        </p:nvGrpSpPr>
        <p:grpSpPr>
          <a:xfrm>
            <a:off x="8480806" y="4216148"/>
            <a:ext cx="552100" cy="760450"/>
            <a:chOff x="1169050" y="238125"/>
            <a:chExt cx="552100" cy="760450"/>
          </a:xfrm>
        </p:grpSpPr>
        <p:sp>
          <p:nvSpPr>
            <p:cNvPr id="1008" name="Google Shape;1008;p14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4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14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14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14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14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14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14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14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14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14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14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14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14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14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14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rgbClr val="065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4" name="Google Shape;1024;p14"/>
          <p:cNvGrpSpPr/>
          <p:nvPr/>
        </p:nvGrpSpPr>
        <p:grpSpPr>
          <a:xfrm flipH="1">
            <a:off x="228401" y="511350"/>
            <a:ext cx="552100" cy="760450"/>
            <a:chOff x="1169050" y="238125"/>
            <a:chExt cx="552100" cy="760450"/>
          </a:xfrm>
        </p:grpSpPr>
        <p:sp>
          <p:nvSpPr>
            <p:cNvPr id="1025" name="Google Shape;1025;p14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14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14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14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14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14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14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14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14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14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14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14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14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14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14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14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1" name="Google Shape;1041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15"/>
          <p:cNvSpPr/>
          <p:nvPr/>
        </p:nvSpPr>
        <p:spPr>
          <a:xfrm>
            <a:off x="0" y="0"/>
            <a:ext cx="2236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4" name="Google Shape;1044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45547" y="-2144471"/>
            <a:ext cx="4609976" cy="26839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5" name="Google Shape;1045;p15"/>
          <p:cNvGrpSpPr/>
          <p:nvPr/>
        </p:nvGrpSpPr>
        <p:grpSpPr>
          <a:xfrm>
            <a:off x="7408850" y="245829"/>
            <a:ext cx="1534300" cy="69950"/>
            <a:chOff x="1213675" y="3814125"/>
            <a:chExt cx="1534300" cy="69950"/>
          </a:xfrm>
        </p:grpSpPr>
        <p:sp>
          <p:nvSpPr>
            <p:cNvPr id="1046" name="Google Shape;1046;p15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15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15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9" name="Google Shape;1049;p15"/>
          <p:cNvSpPr/>
          <p:nvPr/>
        </p:nvSpPr>
        <p:spPr>
          <a:xfrm>
            <a:off x="8299000" y="4060050"/>
            <a:ext cx="2111100" cy="2111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15"/>
          <p:cNvSpPr/>
          <p:nvPr/>
        </p:nvSpPr>
        <p:spPr>
          <a:xfrm>
            <a:off x="7999325" y="4787750"/>
            <a:ext cx="192600" cy="192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15"/>
          <p:cNvSpPr/>
          <p:nvPr/>
        </p:nvSpPr>
        <p:spPr>
          <a:xfrm>
            <a:off x="8750550" y="3867450"/>
            <a:ext cx="192600" cy="192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15"/>
          <p:cNvSpPr txBox="1">
            <a:spLocks noGrp="1"/>
          </p:cNvSpPr>
          <p:nvPr>
            <p:ph type="title"/>
          </p:nvPr>
        </p:nvSpPr>
        <p:spPr>
          <a:xfrm>
            <a:off x="1778550" y="2554260"/>
            <a:ext cx="5586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53" name="Google Shape;1053;p15"/>
          <p:cNvSpPr txBox="1">
            <a:spLocks noGrp="1"/>
          </p:cNvSpPr>
          <p:nvPr>
            <p:ph type="title" idx="2"/>
          </p:nvPr>
        </p:nvSpPr>
        <p:spPr>
          <a:xfrm>
            <a:off x="4114800" y="1543892"/>
            <a:ext cx="914400" cy="6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54" name="Google Shape;1054;p15"/>
          <p:cNvSpPr txBox="1">
            <a:spLocks noGrp="1"/>
          </p:cNvSpPr>
          <p:nvPr>
            <p:ph type="subTitle" idx="1"/>
          </p:nvPr>
        </p:nvSpPr>
        <p:spPr>
          <a:xfrm>
            <a:off x="1780650" y="3469109"/>
            <a:ext cx="5582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5" name="Google Shape;1055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16"/>
          <p:cNvSpPr/>
          <p:nvPr/>
        </p:nvSpPr>
        <p:spPr>
          <a:xfrm flipH="1">
            <a:off x="-871591" y="-1432975"/>
            <a:ext cx="2111100" cy="2111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16"/>
          <p:cNvSpPr/>
          <p:nvPr/>
        </p:nvSpPr>
        <p:spPr>
          <a:xfrm flipH="1">
            <a:off x="233434" y="774425"/>
            <a:ext cx="192600" cy="192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16"/>
          <p:cNvSpPr/>
          <p:nvPr/>
        </p:nvSpPr>
        <p:spPr>
          <a:xfrm flipH="1">
            <a:off x="1237109" y="173150"/>
            <a:ext cx="118800" cy="118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0" name="Google Shape;1060;p16"/>
          <p:cNvGrpSpPr/>
          <p:nvPr/>
        </p:nvGrpSpPr>
        <p:grpSpPr>
          <a:xfrm>
            <a:off x="53688" y="4219198"/>
            <a:ext cx="552100" cy="760450"/>
            <a:chOff x="1169050" y="238125"/>
            <a:chExt cx="552100" cy="760450"/>
          </a:xfrm>
        </p:grpSpPr>
        <p:sp>
          <p:nvSpPr>
            <p:cNvPr id="1061" name="Google Shape;1061;p16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16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16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16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16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16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16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16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16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16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16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16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16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16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16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16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7" name="Google Shape;1077;p16"/>
          <p:cNvSpPr/>
          <p:nvPr/>
        </p:nvSpPr>
        <p:spPr>
          <a:xfrm flipH="1">
            <a:off x="8433109" y="0"/>
            <a:ext cx="720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8" name="Google Shape;1078;p16"/>
          <p:cNvGrpSpPr/>
          <p:nvPr/>
        </p:nvGrpSpPr>
        <p:grpSpPr>
          <a:xfrm rot="5400000" flipH="1">
            <a:off x="8025959" y="4227079"/>
            <a:ext cx="1534300" cy="69950"/>
            <a:chOff x="1213675" y="3814125"/>
            <a:chExt cx="1534300" cy="69950"/>
          </a:xfrm>
        </p:grpSpPr>
        <p:sp>
          <p:nvSpPr>
            <p:cNvPr id="1079" name="Google Shape;1079;p16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16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16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2" name="Google Shape;1082;p16"/>
          <p:cNvSpPr txBox="1">
            <a:spLocks noGrp="1"/>
          </p:cNvSpPr>
          <p:nvPr>
            <p:ph type="title"/>
          </p:nvPr>
        </p:nvSpPr>
        <p:spPr>
          <a:xfrm>
            <a:off x="1280250" y="1482300"/>
            <a:ext cx="6583500" cy="21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83" name="Google Shape;1083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17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86" name="Google Shape;1086;p17"/>
          <p:cNvSpPr txBox="1">
            <a:spLocks noGrp="1"/>
          </p:cNvSpPr>
          <p:nvPr>
            <p:ph type="title"/>
          </p:nvPr>
        </p:nvSpPr>
        <p:spPr>
          <a:xfrm>
            <a:off x="3434700" y="3592925"/>
            <a:ext cx="4996200" cy="100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87" name="Google Shape;1087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18"/>
          <p:cNvSpPr/>
          <p:nvPr/>
        </p:nvSpPr>
        <p:spPr>
          <a:xfrm flipH="1">
            <a:off x="-38374" y="0"/>
            <a:ext cx="2236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18"/>
          <p:cNvSpPr/>
          <p:nvPr/>
        </p:nvSpPr>
        <p:spPr>
          <a:xfrm flipH="1">
            <a:off x="8092026" y="-1229625"/>
            <a:ext cx="2111100" cy="2111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18"/>
          <p:cNvSpPr/>
          <p:nvPr/>
        </p:nvSpPr>
        <p:spPr>
          <a:xfrm flipH="1">
            <a:off x="7848676" y="207200"/>
            <a:ext cx="192600" cy="192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2" name="Google Shape;1092;p18"/>
          <p:cNvGrpSpPr/>
          <p:nvPr/>
        </p:nvGrpSpPr>
        <p:grpSpPr>
          <a:xfrm flipH="1">
            <a:off x="2367076" y="213729"/>
            <a:ext cx="1534300" cy="69950"/>
            <a:chOff x="1213675" y="3814125"/>
            <a:chExt cx="1534300" cy="69950"/>
          </a:xfrm>
        </p:grpSpPr>
        <p:sp>
          <p:nvSpPr>
            <p:cNvPr id="1093" name="Google Shape;1093;p18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18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18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6" name="Google Shape;1096;p18"/>
          <p:cNvGrpSpPr/>
          <p:nvPr/>
        </p:nvGrpSpPr>
        <p:grpSpPr>
          <a:xfrm>
            <a:off x="8480806" y="4216148"/>
            <a:ext cx="552100" cy="760450"/>
            <a:chOff x="1169050" y="238125"/>
            <a:chExt cx="552100" cy="760450"/>
          </a:xfrm>
        </p:grpSpPr>
        <p:sp>
          <p:nvSpPr>
            <p:cNvPr id="1097" name="Google Shape;1097;p18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18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18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18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18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18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18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18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18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18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18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18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18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18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18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18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3" name="Google Shape;1113;p18"/>
          <p:cNvGrpSpPr/>
          <p:nvPr/>
        </p:nvGrpSpPr>
        <p:grpSpPr>
          <a:xfrm flipH="1">
            <a:off x="228401" y="511350"/>
            <a:ext cx="552100" cy="760450"/>
            <a:chOff x="1169050" y="238125"/>
            <a:chExt cx="552100" cy="760450"/>
          </a:xfrm>
        </p:grpSpPr>
        <p:sp>
          <p:nvSpPr>
            <p:cNvPr id="1114" name="Google Shape;1114;p18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18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18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18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18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18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18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18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18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18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18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18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18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18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18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18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0" name="Google Shape;1130;p18"/>
          <p:cNvSpPr txBox="1">
            <a:spLocks noGrp="1"/>
          </p:cNvSpPr>
          <p:nvPr>
            <p:ph type="title" hasCustomPrompt="1"/>
          </p:nvPr>
        </p:nvSpPr>
        <p:spPr>
          <a:xfrm>
            <a:off x="998550" y="1486159"/>
            <a:ext cx="7146900" cy="18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31" name="Google Shape;1131;p18"/>
          <p:cNvSpPr txBox="1">
            <a:spLocks noGrp="1"/>
          </p:cNvSpPr>
          <p:nvPr>
            <p:ph type="subTitle" idx="1"/>
          </p:nvPr>
        </p:nvSpPr>
        <p:spPr>
          <a:xfrm>
            <a:off x="996750" y="3291641"/>
            <a:ext cx="7150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32" name="Google Shape;1132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20"/>
          <p:cNvSpPr/>
          <p:nvPr/>
        </p:nvSpPr>
        <p:spPr>
          <a:xfrm>
            <a:off x="0" y="0"/>
            <a:ext cx="2236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7" name="Google Shape;1137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45547" y="-2144471"/>
            <a:ext cx="4609976" cy="26839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8" name="Google Shape;1138;p20"/>
          <p:cNvGrpSpPr/>
          <p:nvPr/>
        </p:nvGrpSpPr>
        <p:grpSpPr>
          <a:xfrm>
            <a:off x="7408850" y="245829"/>
            <a:ext cx="1534300" cy="69950"/>
            <a:chOff x="1213675" y="3814125"/>
            <a:chExt cx="1534300" cy="69950"/>
          </a:xfrm>
        </p:grpSpPr>
        <p:sp>
          <p:nvSpPr>
            <p:cNvPr id="1139" name="Google Shape;1139;p20"/>
            <p:cNvSpPr/>
            <p:nvPr/>
          </p:nvSpPr>
          <p:spPr>
            <a:xfrm>
              <a:off x="1213675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290" y="0"/>
                  </a:moveTo>
                  <a:lnTo>
                    <a:pt x="1132" y="20"/>
                  </a:lnTo>
                  <a:lnTo>
                    <a:pt x="993" y="60"/>
                  </a:lnTo>
                  <a:lnTo>
                    <a:pt x="854" y="9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417" y="417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4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7" y="2381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7" y="2758"/>
                  </a:lnTo>
                  <a:lnTo>
                    <a:pt x="1806" y="2738"/>
                  </a:lnTo>
                  <a:lnTo>
                    <a:pt x="1925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0" y="2163"/>
                  </a:lnTo>
                  <a:lnTo>
                    <a:pt x="2620" y="2044"/>
                  </a:lnTo>
                  <a:lnTo>
                    <a:pt x="2679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8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79" y="853"/>
                  </a:lnTo>
                  <a:lnTo>
                    <a:pt x="2620" y="734"/>
                  </a:lnTo>
                  <a:lnTo>
                    <a:pt x="2560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63" y="298"/>
                  </a:lnTo>
                  <a:lnTo>
                    <a:pt x="2124" y="198"/>
                  </a:lnTo>
                  <a:lnTo>
                    <a:pt x="1965" y="119"/>
                  </a:lnTo>
                  <a:lnTo>
                    <a:pt x="1806" y="60"/>
                  </a:lnTo>
                  <a:lnTo>
                    <a:pt x="1628" y="2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20"/>
            <p:cNvSpPr/>
            <p:nvPr/>
          </p:nvSpPr>
          <p:spPr>
            <a:xfrm>
              <a:off x="1457725" y="3814125"/>
              <a:ext cx="1046200" cy="69950"/>
            </a:xfrm>
            <a:custGeom>
              <a:avLst/>
              <a:gdLst/>
              <a:ahLst/>
              <a:cxnLst/>
              <a:rect l="l" t="t" r="r" b="b"/>
              <a:pathLst>
                <a:path w="41848" h="2798" extrusionOk="0">
                  <a:moveTo>
                    <a:pt x="1251" y="0"/>
                  </a:moveTo>
                  <a:lnTo>
                    <a:pt x="1112" y="20"/>
                  </a:lnTo>
                  <a:lnTo>
                    <a:pt x="973" y="60"/>
                  </a:lnTo>
                  <a:lnTo>
                    <a:pt x="854" y="119"/>
                  </a:lnTo>
                  <a:lnTo>
                    <a:pt x="735" y="159"/>
                  </a:lnTo>
                  <a:lnTo>
                    <a:pt x="616" y="238"/>
                  </a:lnTo>
                  <a:lnTo>
                    <a:pt x="517" y="31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72"/>
                  </a:lnTo>
                  <a:lnTo>
                    <a:pt x="21" y="111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45"/>
                  </a:lnTo>
                  <a:lnTo>
                    <a:pt x="160" y="2064"/>
                  </a:lnTo>
                  <a:lnTo>
                    <a:pt x="239" y="218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73" y="2718"/>
                  </a:lnTo>
                  <a:lnTo>
                    <a:pt x="111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49" y="2778"/>
                  </a:lnTo>
                  <a:lnTo>
                    <a:pt x="1688" y="2758"/>
                  </a:lnTo>
                  <a:lnTo>
                    <a:pt x="1807" y="2718"/>
                  </a:lnTo>
                  <a:lnTo>
                    <a:pt x="1945" y="2679"/>
                  </a:lnTo>
                  <a:lnTo>
                    <a:pt x="2065" y="2619"/>
                  </a:lnTo>
                  <a:lnTo>
                    <a:pt x="2184" y="2560"/>
                  </a:lnTo>
                  <a:lnTo>
                    <a:pt x="2283" y="248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83"/>
                  </a:lnTo>
                  <a:lnTo>
                    <a:pt x="2620" y="2064"/>
                  </a:lnTo>
                  <a:lnTo>
                    <a:pt x="2680" y="1945"/>
                  </a:lnTo>
                  <a:lnTo>
                    <a:pt x="271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11"/>
                  </a:lnTo>
                  <a:lnTo>
                    <a:pt x="2719" y="97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283" y="318"/>
                  </a:lnTo>
                  <a:lnTo>
                    <a:pt x="2184" y="238"/>
                  </a:lnTo>
                  <a:lnTo>
                    <a:pt x="2065" y="159"/>
                  </a:lnTo>
                  <a:lnTo>
                    <a:pt x="1945" y="119"/>
                  </a:lnTo>
                  <a:lnTo>
                    <a:pt x="1807" y="60"/>
                  </a:lnTo>
                  <a:lnTo>
                    <a:pt x="1688" y="20"/>
                  </a:lnTo>
                  <a:lnTo>
                    <a:pt x="1549" y="0"/>
                  </a:lnTo>
                  <a:close/>
                  <a:moveTo>
                    <a:pt x="11013" y="0"/>
                  </a:moveTo>
                  <a:lnTo>
                    <a:pt x="10874" y="20"/>
                  </a:lnTo>
                  <a:lnTo>
                    <a:pt x="10755" y="60"/>
                  </a:lnTo>
                  <a:lnTo>
                    <a:pt x="10616" y="119"/>
                  </a:lnTo>
                  <a:lnTo>
                    <a:pt x="10497" y="159"/>
                  </a:lnTo>
                  <a:lnTo>
                    <a:pt x="10378" y="238"/>
                  </a:lnTo>
                  <a:lnTo>
                    <a:pt x="10279" y="318"/>
                  </a:lnTo>
                  <a:lnTo>
                    <a:pt x="10180" y="417"/>
                  </a:lnTo>
                  <a:lnTo>
                    <a:pt x="10081" y="516"/>
                  </a:lnTo>
                  <a:lnTo>
                    <a:pt x="10001" y="615"/>
                  </a:lnTo>
                  <a:lnTo>
                    <a:pt x="9942" y="734"/>
                  </a:lnTo>
                  <a:lnTo>
                    <a:pt x="9882" y="853"/>
                  </a:lnTo>
                  <a:lnTo>
                    <a:pt x="9823" y="972"/>
                  </a:lnTo>
                  <a:lnTo>
                    <a:pt x="9803" y="1111"/>
                  </a:lnTo>
                  <a:lnTo>
                    <a:pt x="9783" y="1250"/>
                  </a:lnTo>
                  <a:lnTo>
                    <a:pt x="9763" y="1389"/>
                  </a:lnTo>
                  <a:lnTo>
                    <a:pt x="9783" y="1528"/>
                  </a:lnTo>
                  <a:lnTo>
                    <a:pt x="9803" y="1667"/>
                  </a:lnTo>
                  <a:lnTo>
                    <a:pt x="9823" y="1806"/>
                  </a:lnTo>
                  <a:lnTo>
                    <a:pt x="9882" y="1945"/>
                  </a:lnTo>
                  <a:lnTo>
                    <a:pt x="9942" y="2064"/>
                  </a:lnTo>
                  <a:lnTo>
                    <a:pt x="10001" y="2183"/>
                  </a:lnTo>
                  <a:lnTo>
                    <a:pt x="10081" y="2282"/>
                  </a:lnTo>
                  <a:lnTo>
                    <a:pt x="10180" y="2381"/>
                  </a:lnTo>
                  <a:lnTo>
                    <a:pt x="10279" y="2480"/>
                  </a:lnTo>
                  <a:lnTo>
                    <a:pt x="10378" y="2560"/>
                  </a:lnTo>
                  <a:lnTo>
                    <a:pt x="10497" y="2619"/>
                  </a:lnTo>
                  <a:lnTo>
                    <a:pt x="10616" y="2679"/>
                  </a:lnTo>
                  <a:lnTo>
                    <a:pt x="10755" y="2718"/>
                  </a:lnTo>
                  <a:lnTo>
                    <a:pt x="10874" y="2758"/>
                  </a:lnTo>
                  <a:lnTo>
                    <a:pt x="11013" y="2778"/>
                  </a:lnTo>
                  <a:lnTo>
                    <a:pt x="11152" y="2798"/>
                  </a:lnTo>
                  <a:lnTo>
                    <a:pt x="11311" y="2778"/>
                  </a:lnTo>
                  <a:lnTo>
                    <a:pt x="11450" y="2758"/>
                  </a:lnTo>
                  <a:lnTo>
                    <a:pt x="11569" y="2718"/>
                  </a:lnTo>
                  <a:lnTo>
                    <a:pt x="11708" y="2679"/>
                  </a:lnTo>
                  <a:lnTo>
                    <a:pt x="11827" y="2619"/>
                  </a:lnTo>
                  <a:lnTo>
                    <a:pt x="11946" y="2560"/>
                  </a:lnTo>
                  <a:lnTo>
                    <a:pt x="12045" y="2480"/>
                  </a:lnTo>
                  <a:lnTo>
                    <a:pt x="12144" y="2381"/>
                  </a:lnTo>
                  <a:lnTo>
                    <a:pt x="12243" y="2282"/>
                  </a:lnTo>
                  <a:lnTo>
                    <a:pt x="12323" y="2183"/>
                  </a:lnTo>
                  <a:lnTo>
                    <a:pt x="12382" y="2064"/>
                  </a:lnTo>
                  <a:lnTo>
                    <a:pt x="12442" y="1945"/>
                  </a:lnTo>
                  <a:lnTo>
                    <a:pt x="12501" y="1806"/>
                  </a:lnTo>
                  <a:lnTo>
                    <a:pt x="12521" y="1667"/>
                  </a:lnTo>
                  <a:lnTo>
                    <a:pt x="12541" y="1528"/>
                  </a:lnTo>
                  <a:lnTo>
                    <a:pt x="12561" y="1389"/>
                  </a:lnTo>
                  <a:lnTo>
                    <a:pt x="12541" y="1250"/>
                  </a:lnTo>
                  <a:lnTo>
                    <a:pt x="12521" y="1111"/>
                  </a:lnTo>
                  <a:lnTo>
                    <a:pt x="12501" y="972"/>
                  </a:lnTo>
                  <a:lnTo>
                    <a:pt x="12442" y="853"/>
                  </a:lnTo>
                  <a:lnTo>
                    <a:pt x="12382" y="734"/>
                  </a:lnTo>
                  <a:lnTo>
                    <a:pt x="12323" y="615"/>
                  </a:lnTo>
                  <a:lnTo>
                    <a:pt x="12243" y="516"/>
                  </a:lnTo>
                  <a:lnTo>
                    <a:pt x="12144" y="417"/>
                  </a:lnTo>
                  <a:lnTo>
                    <a:pt x="12045" y="318"/>
                  </a:lnTo>
                  <a:lnTo>
                    <a:pt x="11946" y="238"/>
                  </a:lnTo>
                  <a:lnTo>
                    <a:pt x="11827" y="159"/>
                  </a:lnTo>
                  <a:lnTo>
                    <a:pt x="11708" y="119"/>
                  </a:lnTo>
                  <a:lnTo>
                    <a:pt x="11569" y="60"/>
                  </a:lnTo>
                  <a:lnTo>
                    <a:pt x="11450" y="20"/>
                  </a:lnTo>
                  <a:lnTo>
                    <a:pt x="11311" y="0"/>
                  </a:lnTo>
                  <a:close/>
                  <a:moveTo>
                    <a:pt x="20775" y="0"/>
                  </a:moveTo>
                  <a:lnTo>
                    <a:pt x="20636" y="20"/>
                  </a:lnTo>
                  <a:lnTo>
                    <a:pt x="20498" y="60"/>
                  </a:lnTo>
                  <a:lnTo>
                    <a:pt x="20379" y="119"/>
                  </a:lnTo>
                  <a:lnTo>
                    <a:pt x="20259" y="159"/>
                  </a:lnTo>
                  <a:lnTo>
                    <a:pt x="20140" y="238"/>
                  </a:lnTo>
                  <a:lnTo>
                    <a:pt x="20041" y="318"/>
                  </a:lnTo>
                  <a:lnTo>
                    <a:pt x="19942" y="417"/>
                  </a:lnTo>
                  <a:lnTo>
                    <a:pt x="19843" y="516"/>
                  </a:lnTo>
                  <a:lnTo>
                    <a:pt x="19763" y="615"/>
                  </a:lnTo>
                  <a:lnTo>
                    <a:pt x="19704" y="734"/>
                  </a:lnTo>
                  <a:lnTo>
                    <a:pt x="19644" y="853"/>
                  </a:lnTo>
                  <a:lnTo>
                    <a:pt x="19585" y="972"/>
                  </a:lnTo>
                  <a:lnTo>
                    <a:pt x="19545" y="1111"/>
                  </a:lnTo>
                  <a:lnTo>
                    <a:pt x="19525" y="1250"/>
                  </a:lnTo>
                  <a:lnTo>
                    <a:pt x="19525" y="1389"/>
                  </a:lnTo>
                  <a:lnTo>
                    <a:pt x="19525" y="1528"/>
                  </a:lnTo>
                  <a:lnTo>
                    <a:pt x="19545" y="1667"/>
                  </a:lnTo>
                  <a:lnTo>
                    <a:pt x="19585" y="1806"/>
                  </a:lnTo>
                  <a:lnTo>
                    <a:pt x="19644" y="1945"/>
                  </a:lnTo>
                  <a:lnTo>
                    <a:pt x="19704" y="2064"/>
                  </a:lnTo>
                  <a:lnTo>
                    <a:pt x="19763" y="2183"/>
                  </a:lnTo>
                  <a:lnTo>
                    <a:pt x="19843" y="2282"/>
                  </a:lnTo>
                  <a:lnTo>
                    <a:pt x="19942" y="2381"/>
                  </a:lnTo>
                  <a:lnTo>
                    <a:pt x="20041" y="2480"/>
                  </a:lnTo>
                  <a:lnTo>
                    <a:pt x="20140" y="2560"/>
                  </a:lnTo>
                  <a:lnTo>
                    <a:pt x="20259" y="2619"/>
                  </a:lnTo>
                  <a:lnTo>
                    <a:pt x="20379" y="2679"/>
                  </a:lnTo>
                  <a:lnTo>
                    <a:pt x="20498" y="2718"/>
                  </a:lnTo>
                  <a:lnTo>
                    <a:pt x="20636" y="2758"/>
                  </a:lnTo>
                  <a:lnTo>
                    <a:pt x="20775" y="2778"/>
                  </a:lnTo>
                  <a:lnTo>
                    <a:pt x="20914" y="2798"/>
                  </a:lnTo>
                  <a:lnTo>
                    <a:pt x="21073" y="2778"/>
                  </a:lnTo>
                  <a:lnTo>
                    <a:pt x="21212" y="2758"/>
                  </a:lnTo>
                  <a:lnTo>
                    <a:pt x="21331" y="2718"/>
                  </a:lnTo>
                  <a:lnTo>
                    <a:pt x="21470" y="2679"/>
                  </a:lnTo>
                  <a:lnTo>
                    <a:pt x="21589" y="2619"/>
                  </a:lnTo>
                  <a:lnTo>
                    <a:pt x="21708" y="2560"/>
                  </a:lnTo>
                  <a:lnTo>
                    <a:pt x="21807" y="2480"/>
                  </a:lnTo>
                  <a:lnTo>
                    <a:pt x="21906" y="2381"/>
                  </a:lnTo>
                  <a:lnTo>
                    <a:pt x="22006" y="2282"/>
                  </a:lnTo>
                  <a:lnTo>
                    <a:pt x="22085" y="2183"/>
                  </a:lnTo>
                  <a:lnTo>
                    <a:pt x="22144" y="2064"/>
                  </a:lnTo>
                  <a:lnTo>
                    <a:pt x="22204" y="1945"/>
                  </a:lnTo>
                  <a:lnTo>
                    <a:pt x="22264" y="1806"/>
                  </a:lnTo>
                  <a:lnTo>
                    <a:pt x="22283" y="1667"/>
                  </a:lnTo>
                  <a:lnTo>
                    <a:pt x="22303" y="1528"/>
                  </a:lnTo>
                  <a:lnTo>
                    <a:pt x="22323" y="1389"/>
                  </a:lnTo>
                  <a:lnTo>
                    <a:pt x="22303" y="1250"/>
                  </a:lnTo>
                  <a:lnTo>
                    <a:pt x="22283" y="1111"/>
                  </a:lnTo>
                  <a:lnTo>
                    <a:pt x="22264" y="972"/>
                  </a:lnTo>
                  <a:lnTo>
                    <a:pt x="22204" y="853"/>
                  </a:lnTo>
                  <a:lnTo>
                    <a:pt x="22144" y="734"/>
                  </a:lnTo>
                  <a:lnTo>
                    <a:pt x="22085" y="615"/>
                  </a:lnTo>
                  <a:lnTo>
                    <a:pt x="22006" y="516"/>
                  </a:lnTo>
                  <a:lnTo>
                    <a:pt x="21906" y="417"/>
                  </a:lnTo>
                  <a:lnTo>
                    <a:pt x="21807" y="318"/>
                  </a:lnTo>
                  <a:lnTo>
                    <a:pt x="21708" y="238"/>
                  </a:lnTo>
                  <a:lnTo>
                    <a:pt x="21589" y="159"/>
                  </a:lnTo>
                  <a:lnTo>
                    <a:pt x="21470" y="119"/>
                  </a:lnTo>
                  <a:lnTo>
                    <a:pt x="21331" y="60"/>
                  </a:lnTo>
                  <a:lnTo>
                    <a:pt x="21212" y="20"/>
                  </a:lnTo>
                  <a:lnTo>
                    <a:pt x="21073" y="0"/>
                  </a:lnTo>
                  <a:close/>
                  <a:moveTo>
                    <a:pt x="30538" y="0"/>
                  </a:moveTo>
                  <a:lnTo>
                    <a:pt x="30399" y="20"/>
                  </a:lnTo>
                  <a:lnTo>
                    <a:pt x="30260" y="60"/>
                  </a:lnTo>
                  <a:lnTo>
                    <a:pt x="30141" y="119"/>
                  </a:lnTo>
                  <a:lnTo>
                    <a:pt x="30022" y="159"/>
                  </a:lnTo>
                  <a:lnTo>
                    <a:pt x="29903" y="238"/>
                  </a:lnTo>
                  <a:lnTo>
                    <a:pt x="29803" y="318"/>
                  </a:lnTo>
                  <a:lnTo>
                    <a:pt x="29704" y="417"/>
                  </a:lnTo>
                  <a:lnTo>
                    <a:pt x="29605" y="516"/>
                  </a:lnTo>
                  <a:lnTo>
                    <a:pt x="29526" y="615"/>
                  </a:lnTo>
                  <a:lnTo>
                    <a:pt x="29446" y="734"/>
                  </a:lnTo>
                  <a:lnTo>
                    <a:pt x="29407" y="853"/>
                  </a:lnTo>
                  <a:lnTo>
                    <a:pt x="29347" y="972"/>
                  </a:lnTo>
                  <a:lnTo>
                    <a:pt x="29307" y="1111"/>
                  </a:lnTo>
                  <a:lnTo>
                    <a:pt x="29288" y="1250"/>
                  </a:lnTo>
                  <a:lnTo>
                    <a:pt x="29288" y="1389"/>
                  </a:lnTo>
                  <a:lnTo>
                    <a:pt x="29288" y="1528"/>
                  </a:lnTo>
                  <a:lnTo>
                    <a:pt x="29307" y="1667"/>
                  </a:lnTo>
                  <a:lnTo>
                    <a:pt x="29347" y="1806"/>
                  </a:lnTo>
                  <a:lnTo>
                    <a:pt x="29407" y="1945"/>
                  </a:lnTo>
                  <a:lnTo>
                    <a:pt x="29446" y="2064"/>
                  </a:lnTo>
                  <a:lnTo>
                    <a:pt x="29526" y="2183"/>
                  </a:lnTo>
                  <a:lnTo>
                    <a:pt x="29605" y="2282"/>
                  </a:lnTo>
                  <a:lnTo>
                    <a:pt x="29704" y="2381"/>
                  </a:lnTo>
                  <a:lnTo>
                    <a:pt x="29803" y="2480"/>
                  </a:lnTo>
                  <a:lnTo>
                    <a:pt x="29903" y="2560"/>
                  </a:lnTo>
                  <a:lnTo>
                    <a:pt x="30022" y="2619"/>
                  </a:lnTo>
                  <a:lnTo>
                    <a:pt x="30141" y="2679"/>
                  </a:lnTo>
                  <a:lnTo>
                    <a:pt x="30260" y="2718"/>
                  </a:lnTo>
                  <a:lnTo>
                    <a:pt x="30399" y="2758"/>
                  </a:lnTo>
                  <a:lnTo>
                    <a:pt x="30538" y="2778"/>
                  </a:lnTo>
                  <a:lnTo>
                    <a:pt x="30676" y="2798"/>
                  </a:lnTo>
                  <a:lnTo>
                    <a:pt x="30815" y="2778"/>
                  </a:lnTo>
                  <a:lnTo>
                    <a:pt x="30954" y="2758"/>
                  </a:lnTo>
                  <a:lnTo>
                    <a:pt x="31093" y="2718"/>
                  </a:lnTo>
                  <a:lnTo>
                    <a:pt x="31232" y="2679"/>
                  </a:lnTo>
                  <a:lnTo>
                    <a:pt x="31351" y="2619"/>
                  </a:lnTo>
                  <a:lnTo>
                    <a:pt x="31470" y="2560"/>
                  </a:lnTo>
                  <a:lnTo>
                    <a:pt x="31569" y="2480"/>
                  </a:lnTo>
                  <a:lnTo>
                    <a:pt x="31669" y="2381"/>
                  </a:lnTo>
                  <a:lnTo>
                    <a:pt x="31768" y="2282"/>
                  </a:lnTo>
                  <a:lnTo>
                    <a:pt x="31847" y="2183"/>
                  </a:lnTo>
                  <a:lnTo>
                    <a:pt x="31907" y="2064"/>
                  </a:lnTo>
                  <a:lnTo>
                    <a:pt x="31966" y="1945"/>
                  </a:lnTo>
                  <a:lnTo>
                    <a:pt x="32006" y="1806"/>
                  </a:lnTo>
                  <a:lnTo>
                    <a:pt x="32046" y="1667"/>
                  </a:lnTo>
                  <a:lnTo>
                    <a:pt x="32065" y="1528"/>
                  </a:lnTo>
                  <a:lnTo>
                    <a:pt x="32085" y="1389"/>
                  </a:lnTo>
                  <a:lnTo>
                    <a:pt x="32065" y="1250"/>
                  </a:lnTo>
                  <a:lnTo>
                    <a:pt x="32046" y="1111"/>
                  </a:lnTo>
                  <a:lnTo>
                    <a:pt x="32006" y="972"/>
                  </a:lnTo>
                  <a:lnTo>
                    <a:pt x="31966" y="853"/>
                  </a:lnTo>
                  <a:lnTo>
                    <a:pt x="31907" y="734"/>
                  </a:lnTo>
                  <a:lnTo>
                    <a:pt x="31847" y="615"/>
                  </a:lnTo>
                  <a:lnTo>
                    <a:pt x="31768" y="516"/>
                  </a:lnTo>
                  <a:lnTo>
                    <a:pt x="31669" y="417"/>
                  </a:lnTo>
                  <a:lnTo>
                    <a:pt x="31569" y="318"/>
                  </a:lnTo>
                  <a:lnTo>
                    <a:pt x="31470" y="238"/>
                  </a:lnTo>
                  <a:lnTo>
                    <a:pt x="31351" y="159"/>
                  </a:lnTo>
                  <a:lnTo>
                    <a:pt x="31232" y="119"/>
                  </a:lnTo>
                  <a:lnTo>
                    <a:pt x="31093" y="60"/>
                  </a:lnTo>
                  <a:lnTo>
                    <a:pt x="30954" y="20"/>
                  </a:lnTo>
                  <a:lnTo>
                    <a:pt x="30815" y="0"/>
                  </a:lnTo>
                  <a:close/>
                  <a:moveTo>
                    <a:pt x="40300" y="0"/>
                  </a:moveTo>
                  <a:lnTo>
                    <a:pt x="40161" y="20"/>
                  </a:lnTo>
                  <a:lnTo>
                    <a:pt x="40042" y="60"/>
                  </a:lnTo>
                  <a:lnTo>
                    <a:pt x="39903" y="119"/>
                  </a:lnTo>
                  <a:lnTo>
                    <a:pt x="39784" y="159"/>
                  </a:lnTo>
                  <a:lnTo>
                    <a:pt x="39665" y="238"/>
                  </a:lnTo>
                  <a:lnTo>
                    <a:pt x="39566" y="318"/>
                  </a:lnTo>
                  <a:lnTo>
                    <a:pt x="39466" y="417"/>
                  </a:lnTo>
                  <a:lnTo>
                    <a:pt x="39367" y="516"/>
                  </a:lnTo>
                  <a:lnTo>
                    <a:pt x="39288" y="615"/>
                  </a:lnTo>
                  <a:lnTo>
                    <a:pt x="39228" y="734"/>
                  </a:lnTo>
                  <a:lnTo>
                    <a:pt x="39169" y="853"/>
                  </a:lnTo>
                  <a:lnTo>
                    <a:pt x="39109" y="972"/>
                  </a:lnTo>
                  <a:lnTo>
                    <a:pt x="39089" y="1111"/>
                  </a:lnTo>
                  <a:lnTo>
                    <a:pt x="39070" y="1250"/>
                  </a:lnTo>
                  <a:lnTo>
                    <a:pt x="39050" y="1389"/>
                  </a:lnTo>
                  <a:lnTo>
                    <a:pt x="39070" y="1528"/>
                  </a:lnTo>
                  <a:lnTo>
                    <a:pt x="39089" y="1667"/>
                  </a:lnTo>
                  <a:lnTo>
                    <a:pt x="39109" y="1806"/>
                  </a:lnTo>
                  <a:lnTo>
                    <a:pt x="39169" y="1945"/>
                  </a:lnTo>
                  <a:lnTo>
                    <a:pt x="39228" y="2064"/>
                  </a:lnTo>
                  <a:lnTo>
                    <a:pt x="39288" y="2183"/>
                  </a:lnTo>
                  <a:lnTo>
                    <a:pt x="39367" y="2282"/>
                  </a:lnTo>
                  <a:lnTo>
                    <a:pt x="39466" y="2381"/>
                  </a:lnTo>
                  <a:lnTo>
                    <a:pt x="39566" y="2480"/>
                  </a:lnTo>
                  <a:lnTo>
                    <a:pt x="39665" y="2560"/>
                  </a:lnTo>
                  <a:lnTo>
                    <a:pt x="39784" y="2619"/>
                  </a:lnTo>
                  <a:lnTo>
                    <a:pt x="39903" y="2679"/>
                  </a:lnTo>
                  <a:lnTo>
                    <a:pt x="40042" y="2718"/>
                  </a:lnTo>
                  <a:lnTo>
                    <a:pt x="40161" y="2758"/>
                  </a:lnTo>
                  <a:lnTo>
                    <a:pt x="40300" y="2778"/>
                  </a:lnTo>
                  <a:lnTo>
                    <a:pt x="40439" y="2798"/>
                  </a:lnTo>
                  <a:lnTo>
                    <a:pt x="40597" y="2778"/>
                  </a:lnTo>
                  <a:lnTo>
                    <a:pt x="40736" y="2758"/>
                  </a:lnTo>
                  <a:lnTo>
                    <a:pt x="40855" y="2718"/>
                  </a:lnTo>
                  <a:lnTo>
                    <a:pt x="40994" y="2679"/>
                  </a:lnTo>
                  <a:lnTo>
                    <a:pt x="41113" y="2619"/>
                  </a:lnTo>
                  <a:lnTo>
                    <a:pt x="41232" y="2560"/>
                  </a:lnTo>
                  <a:lnTo>
                    <a:pt x="41332" y="2480"/>
                  </a:lnTo>
                  <a:lnTo>
                    <a:pt x="41431" y="2381"/>
                  </a:lnTo>
                  <a:lnTo>
                    <a:pt x="41530" y="2282"/>
                  </a:lnTo>
                  <a:lnTo>
                    <a:pt x="41609" y="2183"/>
                  </a:lnTo>
                  <a:lnTo>
                    <a:pt x="41669" y="2064"/>
                  </a:lnTo>
                  <a:lnTo>
                    <a:pt x="41728" y="1945"/>
                  </a:lnTo>
                  <a:lnTo>
                    <a:pt x="41788" y="1806"/>
                  </a:lnTo>
                  <a:lnTo>
                    <a:pt x="41808" y="1667"/>
                  </a:lnTo>
                  <a:lnTo>
                    <a:pt x="41828" y="1528"/>
                  </a:lnTo>
                  <a:lnTo>
                    <a:pt x="41847" y="1389"/>
                  </a:lnTo>
                  <a:lnTo>
                    <a:pt x="41828" y="1250"/>
                  </a:lnTo>
                  <a:lnTo>
                    <a:pt x="41808" y="1111"/>
                  </a:lnTo>
                  <a:lnTo>
                    <a:pt x="41788" y="972"/>
                  </a:lnTo>
                  <a:lnTo>
                    <a:pt x="41728" y="853"/>
                  </a:lnTo>
                  <a:lnTo>
                    <a:pt x="41669" y="734"/>
                  </a:lnTo>
                  <a:lnTo>
                    <a:pt x="41609" y="615"/>
                  </a:lnTo>
                  <a:lnTo>
                    <a:pt x="41530" y="516"/>
                  </a:lnTo>
                  <a:lnTo>
                    <a:pt x="41431" y="417"/>
                  </a:lnTo>
                  <a:lnTo>
                    <a:pt x="41332" y="318"/>
                  </a:lnTo>
                  <a:lnTo>
                    <a:pt x="41232" y="238"/>
                  </a:lnTo>
                  <a:lnTo>
                    <a:pt x="41113" y="159"/>
                  </a:lnTo>
                  <a:lnTo>
                    <a:pt x="40994" y="119"/>
                  </a:lnTo>
                  <a:lnTo>
                    <a:pt x="40855" y="60"/>
                  </a:lnTo>
                  <a:lnTo>
                    <a:pt x="40736" y="20"/>
                  </a:lnTo>
                  <a:lnTo>
                    <a:pt x="40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20"/>
            <p:cNvSpPr/>
            <p:nvPr/>
          </p:nvSpPr>
          <p:spPr>
            <a:xfrm>
              <a:off x="2678000" y="3814125"/>
              <a:ext cx="69975" cy="69950"/>
            </a:xfrm>
            <a:custGeom>
              <a:avLst/>
              <a:gdLst/>
              <a:ahLst/>
              <a:cxnLst/>
              <a:rect l="l" t="t" r="r" b="b"/>
              <a:pathLst>
                <a:path w="2799" h="2798" extrusionOk="0">
                  <a:moveTo>
                    <a:pt x="1330" y="0"/>
                  </a:moveTo>
                  <a:lnTo>
                    <a:pt x="1152" y="20"/>
                  </a:lnTo>
                  <a:lnTo>
                    <a:pt x="993" y="60"/>
                  </a:lnTo>
                  <a:lnTo>
                    <a:pt x="834" y="119"/>
                  </a:lnTo>
                  <a:lnTo>
                    <a:pt x="676" y="198"/>
                  </a:lnTo>
                  <a:lnTo>
                    <a:pt x="537" y="298"/>
                  </a:lnTo>
                  <a:lnTo>
                    <a:pt x="418" y="417"/>
                  </a:lnTo>
                  <a:lnTo>
                    <a:pt x="318" y="516"/>
                  </a:lnTo>
                  <a:lnTo>
                    <a:pt x="239" y="615"/>
                  </a:lnTo>
                  <a:lnTo>
                    <a:pt x="160" y="734"/>
                  </a:lnTo>
                  <a:lnTo>
                    <a:pt x="100" y="853"/>
                  </a:lnTo>
                  <a:lnTo>
                    <a:pt x="60" y="992"/>
                  </a:lnTo>
                  <a:lnTo>
                    <a:pt x="21" y="1131"/>
                  </a:lnTo>
                  <a:lnTo>
                    <a:pt x="1" y="1250"/>
                  </a:lnTo>
                  <a:lnTo>
                    <a:pt x="1" y="1389"/>
                  </a:lnTo>
                  <a:lnTo>
                    <a:pt x="1" y="1528"/>
                  </a:lnTo>
                  <a:lnTo>
                    <a:pt x="21" y="1667"/>
                  </a:lnTo>
                  <a:lnTo>
                    <a:pt x="60" y="1806"/>
                  </a:lnTo>
                  <a:lnTo>
                    <a:pt x="100" y="1925"/>
                  </a:lnTo>
                  <a:lnTo>
                    <a:pt x="160" y="2064"/>
                  </a:lnTo>
                  <a:lnTo>
                    <a:pt x="239" y="2163"/>
                  </a:lnTo>
                  <a:lnTo>
                    <a:pt x="318" y="2282"/>
                  </a:lnTo>
                  <a:lnTo>
                    <a:pt x="418" y="2381"/>
                  </a:lnTo>
                  <a:lnTo>
                    <a:pt x="517" y="2480"/>
                  </a:lnTo>
                  <a:lnTo>
                    <a:pt x="616" y="2560"/>
                  </a:lnTo>
                  <a:lnTo>
                    <a:pt x="735" y="2619"/>
                  </a:lnTo>
                  <a:lnTo>
                    <a:pt x="854" y="2679"/>
                  </a:lnTo>
                  <a:lnTo>
                    <a:pt x="993" y="2738"/>
                  </a:lnTo>
                  <a:lnTo>
                    <a:pt x="1132" y="2758"/>
                  </a:lnTo>
                  <a:lnTo>
                    <a:pt x="1251" y="2778"/>
                  </a:lnTo>
                  <a:lnTo>
                    <a:pt x="1390" y="2798"/>
                  </a:lnTo>
                  <a:lnTo>
                    <a:pt x="1529" y="2778"/>
                  </a:lnTo>
                  <a:lnTo>
                    <a:pt x="1668" y="2758"/>
                  </a:lnTo>
                  <a:lnTo>
                    <a:pt x="1807" y="2738"/>
                  </a:lnTo>
                  <a:lnTo>
                    <a:pt x="1926" y="2679"/>
                  </a:lnTo>
                  <a:lnTo>
                    <a:pt x="2064" y="2619"/>
                  </a:lnTo>
                  <a:lnTo>
                    <a:pt x="2164" y="2560"/>
                  </a:lnTo>
                  <a:lnTo>
                    <a:pt x="2382" y="2381"/>
                  </a:lnTo>
                  <a:lnTo>
                    <a:pt x="2481" y="2282"/>
                  </a:lnTo>
                  <a:lnTo>
                    <a:pt x="2561" y="2163"/>
                  </a:lnTo>
                  <a:lnTo>
                    <a:pt x="2620" y="2064"/>
                  </a:lnTo>
                  <a:lnTo>
                    <a:pt x="2680" y="1925"/>
                  </a:lnTo>
                  <a:lnTo>
                    <a:pt x="2739" y="1806"/>
                  </a:lnTo>
                  <a:lnTo>
                    <a:pt x="2759" y="1667"/>
                  </a:lnTo>
                  <a:lnTo>
                    <a:pt x="2779" y="1528"/>
                  </a:lnTo>
                  <a:lnTo>
                    <a:pt x="2799" y="1389"/>
                  </a:lnTo>
                  <a:lnTo>
                    <a:pt x="2779" y="1250"/>
                  </a:lnTo>
                  <a:lnTo>
                    <a:pt x="2759" y="1131"/>
                  </a:lnTo>
                  <a:lnTo>
                    <a:pt x="2739" y="992"/>
                  </a:lnTo>
                  <a:lnTo>
                    <a:pt x="2680" y="853"/>
                  </a:lnTo>
                  <a:lnTo>
                    <a:pt x="2620" y="734"/>
                  </a:lnTo>
                  <a:lnTo>
                    <a:pt x="2561" y="615"/>
                  </a:lnTo>
                  <a:lnTo>
                    <a:pt x="2481" y="516"/>
                  </a:lnTo>
                  <a:lnTo>
                    <a:pt x="2382" y="417"/>
                  </a:lnTo>
                  <a:lnTo>
                    <a:pt x="2164" y="238"/>
                  </a:lnTo>
                  <a:lnTo>
                    <a:pt x="2064" y="159"/>
                  </a:lnTo>
                  <a:lnTo>
                    <a:pt x="1926" y="99"/>
                  </a:lnTo>
                  <a:lnTo>
                    <a:pt x="1807" y="60"/>
                  </a:lnTo>
                  <a:lnTo>
                    <a:pt x="1668" y="20"/>
                  </a:lnTo>
                  <a:lnTo>
                    <a:pt x="1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2" name="Google Shape;1142;p20"/>
          <p:cNvSpPr/>
          <p:nvPr/>
        </p:nvSpPr>
        <p:spPr>
          <a:xfrm>
            <a:off x="8299000" y="4060050"/>
            <a:ext cx="2111100" cy="2111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20"/>
          <p:cNvSpPr/>
          <p:nvPr/>
        </p:nvSpPr>
        <p:spPr>
          <a:xfrm>
            <a:off x="7999325" y="4787750"/>
            <a:ext cx="192600" cy="192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20"/>
          <p:cNvSpPr/>
          <p:nvPr/>
        </p:nvSpPr>
        <p:spPr>
          <a:xfrm>
            <a:off x="8750550" y="3867450"/>
            <a:ext cx="192600" cy="192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7750" y="365760"/>
            <a:ext cx="7708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92700" y="1351875"/>
            <a:ext cx="7711800" cy="3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"/>
              <a:buChar char="●"/>
              <a:defRPr sz="1400" b="0" i="0" u="none" strike="noStrike" cap="none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"/>
              <a:buChar char="○"/>
              <a:defRPr sz="1400" b="0" i="0" u="none" strike="noStrike" cap="none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"/>
              <a:buChar char="■"/>
              <a:defRPr sz="1400" b="0" i="0" u="none" strike="noStrike" cap="none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"/>
              <a:buChar char="●"/>
              <a:defRPr sz="1400" b="0" i="0" u="none" strike="noStrike" cap="none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"/>
              <a:buChar char="○"/>
              <a:defRPr sz="1400" b="0" i="0" u="none" strike="noStrike" cap="none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"/>
              <a:buChar char="■"/>
              <a:defRPr sz="1400" b="0" i="0" u="none" strike="noStrike" cap="none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"/>
              <a:buChar char="●"/>
              <a:defRPr sz="1400" b="0" i="0" u="none" strike="noStrike" cap="none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"/>
              <a:buChar char="○"/>
              <a:defRPr sz="1400" b="0" i="0" u="none" strike="noStrike" cap="none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"/>
              <a:buChar char="■"/>
              <a:defRPr sz="1400" b="0" i="0" u="none" strike="noStrike" cap="none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6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C143250E-B079-8531-C4D8-2BFA3ECDD3F1}"/>
              </a:ext>
            </a:extLst>
          </p:cNvPr>
          <p:cNvSpPr/>
          <p:nvPr/>
        </p:nvSpPr>
        <p:spPr>
          <a:xfrm>
            <a:off x="-8507" y="3877606"/>
            <a:ext cx="867905" cy="12795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709D043-935B-D47D-D19B-230334A679A4}"/>
              </a:ext>
            </a:extLst>
          </p:cNvPr>
          <p:cNvSpPr/>
          <p:nvPr/>
        </p:nvSpPr>
        <p:spPr>
          <a:xfrm>
            <a:off x="4929510" y="97781"/>
            <a:ext cx="1875578" cy="3383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54F44E-C313-0EB7-4AE2-B57D11F32D5C}"/>
              </a:ext>
            </a:extLst>
          </p:cNvPr>
          <p:cNvSpPr/>
          <p:nvPr/>
        </p:nvSpPr>
        <p:spPr>
          <a:xfrm>
            <a:off x="6909721" y="132762"/>
            <a:ext cx="2289133" cy="4946736"/>
          </a:xfrm>
          <a:prstGeom prst="rect">
            <a:avLst/>
          </a:prstGeom>
          <a:solidFill>
            <a:srgbClr val="0313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2291" name="Google Shape;2291;p41"/>
          <p:cNvGrpSpPr/>
          <p:nvPr/>
        </p:nvGrpSpPr>
        <p:grpSpPr>
          <a:xfrm>
            <a:off x="7468840" y="328470"/>
            <a:ext cx="552100" cy="760450"/>
            <a:chOff x="1169050" y="238125"/>
            <a:chExt cx="552100" cy="760450"/>
          </a:xfrm>
        </p:grpSpPr>
        <p:sp>
          <p:nvSpPr>
            <p:cNvPr id="2292" name="Google Shape;2292;p41"/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3" name="Google Shape;2293;p41"/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4" name="Google Shape;2294;p41"/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5" name="Google Shape;2295;p41"/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p41"/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p41"/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p41"/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9" name="Google Shape;2299;p41"/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0" name="Google Shape;2300;p41"/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1" name="Google Shape;2301;p41"/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2" name="Google Shape;2302;p41"/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3" name="Google Shape;2303;p41"/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4" name="Google Shape;2304;p41"/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5" name="Google Shape;2305;p41"/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6" name="Google Shape;2306;p41"/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7" name="Google Shape;2307;p41"/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" name="Google Shape;2555;p52">
            <a:extLst>
              <a:ext uri="{FF2B5EF4-FFF2-40B4-BE49-F238E27FC236}">
                <a16:creationId xmlns:a16="http://schemas.microsoft.com/office/drawing/2014/main" id="{41FE26CE-27D9-37E2-C596-7DAD41C5C080}"/>
              </a:ext>
            </a:extLst>
          </p:cNvPr>
          <p:cNvSpPr txBox="1"/>
          <p:nvPr/>
        </p:nvSpPr>
        <p:spPr>
          <a:xfrm>
            <a:off x="739667" y="4775437"/>
            <a:ext cx="2344424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dirty="0">
                <a:solidFill>
                  <a:schemeClr val="bg1">
                    <a:lumMod val="90000"/>
                  </a:schemeClr>
                </a:solidFill>
                <a:latin typeface="Exo"/>
                <a:ea typeface="Exo"/>
                <a:cs typeface="Exo"/>
                <a:sym typeface="Exo"/>
              </a:rPr>
              <a:t>Fevrier 2025</a:t>
            </a:r>
            <a:endParaRPr sz="1100" dirty="0">
              <a:solidFill>
                <a:schemeClr val="bg1">
                  <a:lumMod val="90000"/>
                </a:schemeClr>
              </a:solidFill>
              <a:latin typeface="Exo"/>
              <a:ea typeface="Exo"/>
              <a:cs typeface="Exo"/>
              <a:sym typeface="Exo"/>
            </a:endParaRP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31BFBBC6-6423-4971-9ABC-B16C30E3FE6B}"/>
              </a:ext>
            </a:extLst>
          </p:cNvPr>
          <p:cNvSpPr/>
          <p:nvPr/>
        </p:nvSpPr>
        <p:spPr>
          <a:xfrm>
            <a:off x="1040078" y="196763"/>
            <a:ext cx="255214" cy="239357"/>
          </a:xfrm>
          <a:prstGeom prst="ellipse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35E123-8E43-456A-A8D3-B1C87E957B19}"/>
              </a:ext>
            </a:extLst>
          </p:cNvPr>
          <p:cNvSpPr/>
          <p:nvPr/>
        </p:nvSpPr>
        <p:spPr>
          <a:xfrm>
            <a:off x="6859942" y="0"/>
            <a:ext cx="2284058" cy="198782"/>
          </a:xfrm>
          <a:prstGeom prst="rect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CC9BFC7-E7BD-2F81-7EA3-7ABDAF43F1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63" t="17961" r="22442" b="19846"/>
          <a:stretch/>
        </p:blipFill>
        <p:spPr>
          <a:xfrm>
            <a:off x="735646" y="1803528"/>
            <a:ext cx="2605696" cy="173320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5C5195F-D7D6-8E8E-1203-C7093B798480}"/>
              </a:ext>
            </a:extLst>
          </p:cNvPr>
          <p:cNvSpPr/>
          <p:nvPr/>
        </p:nvSpPr>
        <p:spPr>
          <a:xfrm>
            <a:off x="3556748" y="651420"/>
            <a:ext cx="5678378" cy="3539877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Google Shape;2555;p52">
            <a:extLst>
              <a:ext uri="{FF2B5EF4-FFF2-40B4-BE49-F238E27FC236}">
                <a16:creationId xmlns:a16="http://schemas.microsoft.com/office/drawing/2014/main" id="{9A53B50A-2B66-E639-143D-18152C634FA7}"/>
              </a:ext>
            </a:extLst>
          </p:cNvPr>
          <p:cNvSpPr txBox="1"/>
          <p:nvPr/>
        </p:nvSpPr>
        <p:spPr>
          <a:xfrm>
            <a:off x="935026" y="1071295"/>
            <a:ext cx="2351314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PRESENTATION DU PROJET</a:t>
            </a:r>
            <a:endParaRPr sz="900" dirty="0">
              <a:solidFill>
                <a:schemeClr val="dk1"/>
              </a:solidFill>
              <a:latin typeface="Exo"/>
              <a:ea typeface="Exo"/>
              <a:cs typeface="Exo"/>
              <a:sym typeface="Exo"/>
            </a:endParaRPr>
          </a:p>
        </p:txBody>
      </p:sp>
      <p:grpSp>
        <p:nvGrpSpPr>
          <p:cNvPr id="16" name="Google Shape;2291;p41">
            <a:extLst>
              <a:ext uri="{FF2B5EF4-FFF2-40B4-BE49-F238E27FC236}">
                <a16:creationId xmlns:a16="http://schemas.microsoft.com/office/drawing/2014/main" id="{234AF8F2-551F-80CF-23FC-1FD005D44710}"/>
              </a:ext>
            </a:extLst>
          </p:cNvPr>
          <p:cNvGrpSpPr/>
          <p:nvPr/>
        </p:nvGrpSpPr>
        <p:grpSpPr>
          <a:xfrm>
            <a:off x="35874" y="4194364"/>
            <a:ext cx="552100" cy="760450"/>
            <a:chOff x="1169050" y="238125"/>
            <a:chExt cx="552100" cy="760450"/>
          </a:xfrm>
          <a:solidFill>
            <a:srgbClr val="1C9444"/>
          </a:solidFill>
        </p:grpSpPr>
        <p:sp>
          <p:nvSpPr>
            <p:cNvPr id="17" name="Google Shape;2292;p41">
              <a:extLst>
                <a:ext uri="{FF2B5EF4-FFF2-40B4-BE49-F238E27FC236}">
                  <a16:creationId xmlns:a16="http://schemas.microsoft.com/office/drawing/2014/main" id="{433AD9CE-933C-FE50-DEBE-56489556D583}"/>
                </a:ext>
              </a:extLst>
            </p:cNvPr>
            <p:cNvSpPr/>
            <p:nvPr/>
          </p:nvSpPr>
          <p:spPr>
            <a:xfrm>
              <a:off x="1657650" y="238125"/>
              <a:ext cx="18875" cy="107650"/>
            </a:xfrm>
            <a:custGeom>
              <a:avLst/>
              <a:gdLst/>
              <a:ahLst/>
              <a:cxnLst/>
              <a:rect l="l" t="t" r="r" b="b"/>
              <a:pathLst>
                <a:path w="755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54" y="4306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1C9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2293;p41">
              <a:extLst>
                <a:ext uri="{FF2B5EF4-FFF2-40B4-BE49-F238E27FC236}">
                  <a16:creationId xmlns:a16="http://schemas.microsoft.com/office/drawing/2014/main" id="{CC60CD22-7DA4-4F91-5AF5-899D8F8394AF}"/>
                </a:ext>
              </a:extLst>
            </p:cNvPr>
            <p:cNvSpPr/>
            <p:nvPr/>
          </p:nvSpPr>
          <p:spPr>
            <a:xfrm>
              <a:off x="1613000" y="2822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26" y="775"/>
                  </a:lnTo>
                  <a:lnTo>
                    <a:pt x="4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1C9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2294;p41">
              <a:extLst>
                <a:ext uri="{FF2B5EF4-FFF2-40B4-BE49-F238E27FC236}">
                  <a16:creationId xmlns:a16="http://schemas.microsoft.com/office/drawing/2014/main" id="{1BB8EA62-D8B5-5A03-98A3-304F4046C026}"/>
                </a:ext>
              </a:extLst>
            </p:cNvPr>
            <p:cNvSpPr/>
            <p:nvPr/>
          </p:nvSpPr>
          <p:spPr>
            <a:xfrm>
              <a:off x="1657650" y="453400"/>
              <a:ext cx="18875" cy="108150"/>
            </a:xfrm>
            <a:custGeom>
              <a:avLst/>
              <a:gdLst/>
              <a:ahLst/>
              <a:cxnLst/>
              <a:rect l="l" t="t" r="r" b="b"/>
              <a:pathLst>
                <a:path w="755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54" y="4326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1C9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295;p41">
              <a:extLst>
                <a:ext uri="{FF2B5EF4-FFF2-40B4-BE49-F238E27FC236}">
                  <a16:creationId xmlns:a16="http://schemas.microsoft.com/office/drawing/2014/main" id="{F275FCCA-CE1E-38CB-74AE-85FD359CF450}"/>
                </a:ext>
              </a:extLst>
            </p:cNvPr>
            <p:cNvSpPr/>
            <p:nvPr/>
          </p:nvSpPr>
          <p:spPr>
            <a:xfrm>
              <a:off x="1613000" y="497550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1C9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296;p41">
              <a:extLst>
                <a:ext uri="{FF2B5EF4-FFF2-40B4-BE49-F238E27FC236}">
                  <a16:creationId xmlns:a16="http://schemas.microsoft.com/office/drawing/2014/main" id="{C17C4B04-4893-E22C-070F-81604083AA83}"/>
                </a:ext>
              </a:extLst>
            </p:cNvPr>
            <p:cNvSpPr/>
            <p:nvPr/>
          </p:nvSpPr>
          <p:spPr>
            <a:xfrm>
              <a:off x="1435425" y="238125"/>
              <a:ext cx="19350" cy="107650"/>
            </a:xfrm>
            <a:custGeom>
              <a:avLst/>
              <a:gdLst/>
              <a:ahLst/>
              <a:cxnLst/>
              <a:rect l="l" t="t" r="r" b="b"/>
              <a:pathLst>
                <a:path w="774" h="4306" extrusionOk="0">
                  <a:moveTo>
                    <a:pt x="0" y="0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1C9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97;p41">
              <a:extLst>
                <a:ext uri="{FF2B5EF4-FFF2-40B4-BE49-F238E27FC236}">
                  <a16:creationId xmlns:a16="http://schemas.microsoft.com/office/drawing/2014/main" id="{C444725F-319D-F96F-8A88-7034C1AE5F8B}"/>
                </a:ext>
              </a:extLst>
            </p:cNvPr>
            <p:cNvSpPr/>
            <p:nvPr/>
          </p:nvSpPr>
          <p:spPr>
            <a:xfrm>
              <a:off x="1391275" y="2822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5"/>
                  </a:lnTo>
                  <a:lnTo>
                    <a:pt x="4306" y="775"/>
                  </a:lnTo>
                  <a:lnTo>
                    <a:pt x="43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1C9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298;p41">
              <a:extLst>
                <a:ext uri="{FF2B5EF4-FFF2-40B4-BE49-F238E27FC236}">
                  <a16:creationId xmlns:a16="http://schemas.microsoft.com/office/drawing/2014/main" id="{9984DA3A-7E72-9689-020C-8A40EE31A1D0}"/>
                </a:ext>
              </a:extLst>
            </p:cNvPr>
            <p:cNvSpPr/>
            <p:nvPr/>
          </p:nvSpPr>
          <p:spPr>
            <a:xfrm>
              <a:off x="1435425" y="453400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1C9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299;p41">
              <a:extLst>
                <a:ext uri="{FF2B5EF4-FFF2-40B4-BE49-F238E27FC236}">
                  <a16:creationId xmlns:a16="http://schemas.microsoft.com/office/drawing/2014/main" id="{0DD43512-8014-F93B-825A-BBE942D7D7F0}"/>
                </a:ext>
              </a:extLst>
            </p:cNvPr>
            <p:cNvSpPr/>
            <p:nvPr/>
          </p:nvSpPr>
          <p:spPr>
            <a:xfrm>
              <a:off x="1391275" y="497550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0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1C9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300;p41">
              <a:extLst>
                <a:ext uri="{FF2B5EF4-FFF2-40B4-BE49-F238E27FC236}">
                  <a16:creationId xmlns:a16="http://schemas.microsoft.com/office/drawing/2014/main" id="{16D81444-5812-8F7C-2816-66CDEE27AEAA}"/>
                </a:ext>
              </a:extLst>
            </p:cNvPr>
            <p:cNvSpPr/>
            <p:nvPr/>
          </p:nvSpPr>
          <p:spPr>
            <a:xfrm>
              <a:off x="1435425" y="675125"/>
              <a:ext cx="19350" cy="107675"/>
            </a:xfrm>
            <a:custGeom>
              <a:avLst/>
              <a:gdLst/>
              <a:ahLst/>
              <a:cxnLst/>
              <a:rect l="l" t="t" r="r" b="b"/>
              <a:pathLst>
                <a:path w="774" h="4307" extrusionOk="0">
                  <a:moveTo>
                    <a:pt x="0" y="1"/>
                  </a:moveTo>
                  <a:lnTo>
                    <a:pt x="0" y="4306"/>
                  </a:lnTo>
                  <a:lnTo>
                    <a:pt x="774" y="4306"/>
                  </a:lnTo>
                  <a:lnTo>
                    <a:pt x="77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1C9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301;p41">
              <a:extLst>
                <a:ext uri="{FF2B5EF4-FFF2-40B4-BE49-F238E27FC236}">
                  <a16:creationId xmlns:a16="http://schemas.microsoft.com/office/drawing/2014/main" id="{8EE338DF-DFA9-F371-4CA3-6304426F038D}"/>
                </a:ext>
              </a:extLst>
            </p:cNvPr>
            <p:cNvSpPr/>
            <p:nvPr/>
          </p:nvSpPr>
          <p:spPr>
            <a:xfrm>
              <a:off x="1391275" y="719275"/>
              <a:ext cx="107650" cy="19375"/>
            </a:xfrm>
            <a:custGeom>
              <a:avLst/>
              <a:gdLst/>
              <a:ahLst/>
              <a:cxnLst/>
              <a:rect l="l" t="t" r="r" b="b"/>
              <a:pathLst>
                <a:path w="430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06" y="774"/>
                  </a:lnTo>
                  <a:lnTo>
                    <a:pt x="43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1C9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302;p41">
              <a:extLst>
                <a:ext uri="{FF2B5EF4-FFF2-40B4-BE49-F238E27FC236}">
                  <a16:creationId xmlns:a16="http://schemas.microsoft.com/office/drawing/2014/main" id="{AA29CB69-B9D8-5354-88A8-B852A9148B9F}"/>
                </a:ext>
              </a:extLst>
            </p:cNvPr>
            <p:cNvSpPr/>
            <p:nvPr/>
          </p:nvSpPr>
          <p:spPr>
            <a:xfrm>
              <a:off x="1435425" y="890425"/>
              <a:ext cx="19350" cy="108150"/>
            </a:xfrm>
            <a:custGeom>
              <a:avLst/>
              <a:gdLst/>
              <a:ahLst/>
              <a:cxnLst/>
              <a:rect l="l" t="t" r="r" b="b"/>
              <a:pathLst>
                <a:path w="774" h="4326" extrusionOk="0">
                  <a:moveTo>
                    <a:pt x="0" y="0"/>
                  </a:moveTo>
                  <a:lnTo>
                    <a:pt x="0" y="4326"/>
                  </a:lnTo>
                  <a:lnTo>
                    <a:pt x="774" y="4326"/>
                  </a:lnTo>
                  <a:lnTo>
                    <a:pt x="7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1C9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303;p41">
              <a:extLst>
                <a:ext uri="{FF2B5EF4-FFF2-40B4-BE49-F238E27FC236}">
                  <a16:creationId xmlns:a16="http://schemas.microsoft.com/office/drawing/2014/main" id="{C315BD6A-BD37-DE60-A346-6FF37FCA06DF}"/>
                </a:ext>
              </a:extLst>
            </p:cNvPr>
            <p:cNvSpPr/>
            <p:nvPr/>
          </p:nvSpPr>
          <p:spPr>
            <a:xfrm>
              <a:off x="1391275" y="935050"/>
              <a:ext cx="107650" cy="18875"/>
            </a:xfrm>
            <a:custGeom>
              <a:avLst/>
              <a:gdLst/>
              <a:ahLst/>
              <a:cxnLst/>
              <a:rect l="l" t="t" r="r" b="b"/>
              <a:pathLst>
                <a:path w="430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06" y="755"/>
                  </a:lnTo>
                  <a:lnTo>
                    <a:pt x="43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1C9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304;p41">
              <a:extLst>
                <a:ext uri="{FF2B5EF4-FFF2-40B4-BE49-F238E27FC236}">
                  <a16:creationId xmlns:a16="http://schemas.microsoft.com/office/drawing/2014/main" id="{FBFDD610-40AA-719D-A143-17FA22F46D10}"/>
                </a:ext>
              </a:extLst>
            </p:cNvPr>
            <p:cNvSpPr/>
            <p:nvPr/>
          </p:nvSpPr>
          <p:spPr>
            <a:xfrm>
              <a:off x="1213675" y="675125"/>
              <a:ext cx="19375" cy="107675"/>
            </a:xfrm>
            <a:custGeom>
              <a:avLst/>
              <a:gdLst/>
              <a:ahLst/>
              <a:cxnLst/>
              <a:rect l="l" t="t" r="r" b="b"/>
              <a:pathLst>
                <a:path w="775" h="4307" extrusionOk="0">
                  <a:moveTo>
                    <a:pt x="1" y="1"/>
                  </a:moveTo>
                  <a:lnTo>
                    <a:pt x="1" y="4306"/>
                  </a:lnTo>
                  <a:lnTo>
                    <a:pt x="775" y="4306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1C9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2305;p41">
              <a:extLst>
                <a:ext uri="{FF2B5EF4-FFF2-40B4-BE49-F238E27FC236}">
                  <a16:creationId xmlns:a16="http://schemas.microsoft.com/office/drawing/2014/main" id="{31E5498F-AEA7-476E-A362-47CB9CFBAA51}"/>
                </a:ext>
              </a:extLst>
            </p:cNvPr>
            <p:cNvSpPr/>
            <p:nvPr/>
          </p:nvSpPr>
          <p:spPr>
            <a:xfrm>
              <a:off x="1169050" y="719275"/>
              <a:ext cx="108150" cy="19375"/>
            </a:xfrm>
            <a:custGeom>
              <a:avLst/>
              <a:gdLst/>
              <a:ahLst/>
              <a:cxnLst/>
              <a:rect l="l" t="t" r="r" b="b"/>
              <a:pathLst>
                <a:path w="4326" h="775" extrusionOk="0">
                  <a:moveTo>
                    <a:pt x="0" y="1"/>
                  </a:moveTo>
                  <a:lnTo>
                    <a:pt x="0" y="774"/>
                  </a:lnTo>
                  <a:lnTo>
                    <a:pt x="4326" y="774"/>
                  </a:lnTo>
                  <a:lnTo>
                    <a:pt x="4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1C9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2306;p41">
              <a:extLst>
                <a:ext uri="{FF2B5EF4-FFF2-40B4-BE49-F238E27FC236}">
                  <a16:creationId xmlns:a16="http://schemas.microsoft.com/office/drawing/2014/main" id="{0C26A85E-4FF0-82F1-B883-9840ABE441F8}"/>
                </a:ext>
              </a:extLst>
            </p:cNvPr>
            <p:cNvSpPr/>
            <p:nvPr/>
          </p:nvSpPr>
          <p:spPr>
            <a:xfrm>
              <a:off x="1213675" y="890425"/>
              <a:ext cx="19375" cy="108150"/>
            </a:xfrm>
            <a:custGeom>
              <a:avLst/>
              <a:gdLst/>
              <a:ahLst/>
              <a:cxnLst/>
              <a:rect l="l" t="t" r="r" b="b"/>
              <a:pathLst>
                <a:path w="775" h="4326" extrusionOk="0">
                  <a:moveTo>
                    <a:pt x="1" y="0"/>
                  </a:moveTo>
                  <a:lnTo>
                    <a:pt x="1" y="4326"/>
                  </a:lnTo>
                  <a:lnTo>
                    <a:pt x="775" y="4326"/>
                  </a:lnTo>
                  <a:lnTo>
                    <a:pt x="7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1C9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2307;p41">
              <a:extLst>
                <a:ext uri="{FF2B5EF4-FFF2-40B4-BE49-F238E27FC236}">
                  <a16:creationId xmlns:a16="http://schemas.microsoft.com/office/drawing/2014/main" id="{4B4840FE-0682-130E-BC9C-5D5F9B0CA940}"/>
                </a:ext>
              </a:extLst>
            </p:cNvPr>
            <p:cNvSpPr/>
            <p:nvPr/>
          </p:nvSpPr>
          <p:spPr>
            <a:xfrm>
              <a:off x="1169050" y="935050"/>
              <a:ext cx="108150" cy="18875"/>
            </a:xfrm>
            <a:custGeom>
              <a:avLst/>
              <a:gdLst/>
              <a:ahLst/>
              <a:cxnLst/>
              <a:rect l="l" t="t" r="r" b="b"/>
              <a:pathLst>
                <a:path w="4326" h="755" extrusionOk="0">
                  <a:moveTo>
                    <a:pt x="0" y="1"/>
                  </a:moveTo>
                  <a:lnTo>
                    <a:pt x="0" y="755"/>
                  </a:lnTo>
                  <a:lnTo>
                    <a:pt x="4326" y="755"/>
                  </a:lnTo>
                  <a:lnTo>
                    <a:pt x="4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1C9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AF8FA225-A608-042F-EA54-A2B65BBB22D6}"/>
              </a:ext>
            </a:extLst>
          </p:cNvPr>
          <p:cNvSpPr/>
          <p:nvPr/>
        </p:nvSpPr>
        <p:spPr>
          <a:xfrm>
            <a:off x="6823669" y="4971913"/>
            <a:ext cx="2375185" cy="185259"/>
          </a:xfrm>
          <a:prstGeom prst="rect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294C857E-E468-370F-9073-8C66A3ABE141}"/>
              </a:ext>
            </a:extLst>
          </p:cNvPr>
          <p:cNvSpPr/>
          <p:nvPr/>
        </p:nvSpPr>
        <p:spPr>
          <a:xfrm>
            <a:off x="-1012711" y="-1123756"/>
            <a:ext cx="2097170" cy="2149151"/>
          </a:xfrm>
          <a:prstGeom prst="ellipse">
            <a:avLst/>
          </a:prstGeom>
          <a:solidFill>
            <a:srgbClr val="1C9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C9444"/>
              </a:solidFill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C8CCDB6C-FA5C-193E-1FE8-FEB5F2084439}"/>
              </a:ext>
            </a:extLst>
          </p:cNvPr>
          <p:cNvSpPr/>
          <p:nvPr/>
        </p:nvSpPr>
        <p:spPr>
          <a:xfrm>
            <a:off x="-1057092" y="-962170"/>
            <a:ext cx="2097170" cy="1997002"/>
          </a:xfrm>
          <a:prstGeom prst="ellipse">
            <a:avLst/>
          </a:prstGeom>
          <a:solidFill>
            <a:srgbClr val="0716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3539B38E-529D-1F3D-FCE5-D195AE982A88}"/>
              </a:ext>
            </a:extLst>
          </p:cNvPr>
          <p:cNvSpPr txBox="1"/>
          <p:nvPr/>
        </p:nvSpPr>
        <p:spPr>
          <a:xfrm>
            <a:off x="1272355" y="1288375"/>
            <a:ext cx="15671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b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d'analyse de données</a:t>
            </a:r>
            <a:endParaRPr lang="fr-FR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42"/>
          <p:cNvSpPr txBox="1"/>
          <p:nvPr/>
        </p:nvSpPr>
        <p:spPr>
          <a:xfrm>
            <a:off x="4786604" y="3580417"/>
            <a:ext cx="10213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23 Jours</a:t>
            </a:r>
            <a:endParaRPr/>
          </a:p>
        </p:txBody>
      </p:sp>
      <p:sp>
        <p:nvSpPr>
          <p:cNvPr id="2333" name="Google Shape;2333;p42"/>
          <p:cNvSpPr txBox="1"/>
          <p:nvPr/>
        </p:nvSpPr>
        <p:spPr>
          <a:xfrm>
            <a:off x="4077615" y="4131273"/>
            <a:ext cx="10213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97 Jours</a:t>
            </a:r>
            <a:endParaRPr/>
          </a:p>
        </p:txBody>
      </p:sp>
      <p:sp>
        <p:nvSpPr>
          <p:cNvPr id="2342" name="Google Shape;2342;p4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BBD92F16-93D5-4EB1-A6CA-9B63472A1799}"/>
              </a:ext>
            </a:extLst>
          </p:cNvPr>
          <p:cNvSpPr/>
          <p:nvPr/>
        </p:nvSpPr>
        <p:spPr>
          <a:xfrm>
            <a:off x="7867792" y="-1407883"/>
            <a:ext cx="2132602" cy="2110664"/>
          </a:xfrm>
          <a:prstGeom prst="ellipse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55F20D02-4CAA-4CE3-8768-A776C78D9443}"/>
              </a:ext>
            </a:extLst>
          </p:cNvPr>
          <p:cNvSpPr/>
          <p:nvPr/>
        </p:nvSpPr>
        <p:spPr>
          <a:xfrm>
            <a:off x="8701344" y="737519"/>
            <a:ext cx="232749" cy="229388"/>
          </a:xfrm>
          <a:prstGeom prst="ellipse">
            <a:avLst/>
          </a:prstGeom>
          <a:solidFill>
            <a:srgbClr val="1C9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A00748D7-E76E-4A06-9D28-A98E9DB4F386}"/>
              </a:ext>
            </a:extLst>
          </p:cNvPr>
          <p:cNvSpPr/>
          <p:nvPr/>
        </p:nvSpPr>
        <p:spPr>
          <a:xfrm>
            <a:off x="7770409" y="142243"/>
            <a:ext cx="177308" cy="174015"/>
          </a:xfrm>
          <a:prstGeom prst="ellipse">
            <a:avLst/>
          </a:prstGeom>
          <a:solidFill>
            <a:srgbClr val="1C9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429E46-932F-47EB-A6A6-5AA58763E2EB}"/>
              </a:ext>
            </a:extLst>
          </p:cNvPr>
          <p:cNvSpPr/>
          <p:nvPr/>
        </p:nvSpPr>
        <p:spPr>
          <a:xfrm>
            <a:off x="-34322" y="-61472"/>
            <a:ext cx="825023" cy="5266443"/>
          </a:xfrm>
          <a:prstGeom prst="rect">
            <a:avLst/>
          </a:prstGeom>
          <a:solidFill>
            <a:srgbClr val="0716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71637"/>
              </a:solidFill>
            </a:endParaRP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C06190BA-01E4-231C-89BD-1AF7EF7D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358" y="1769690"/>
            <a:ext cx="8012744" cy="988443"/>
          </a:xfrm>
        </p:spPr>
        <p:txBody>
          <a:bodyPr/>
          <a:lstStyle/>
          <a:p>
            <a:r>
              <a:rPr lang="fr-FR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ANALYSE DES VENTES ET PERFORMANCES </a:t>
            </a:r>
            <a:br>
              <a:rPr lang="fr-FR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fr-FR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COMMERCIALES AVEC POWER BI.</a:t>
            </a:r>
            <a:br>
              <a:rPr lang="fr-FR" sz="3600" b="1" dirty="0">
                <a:effectLst/>
              </a:rPr>
            </a:br>
            <a:endParaRPr lang="fr-FR" sz="36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1D839B0-2BD0-2E9D-C40A-38E7A2005A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171" t="29590" r="18336" b="42248"/>
          <a:stretch/>
        </p:blipFill>
        <p:spPr>
          <a:xfrm>
            <a:off x="2994510" y="522779"/>
            <a:ext cx="3836956" cy="988443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A6AB8808-A936-1288-4CCA-3BCCF9461966}"/>
              </a:ext>
            </a:extLst>
          </p:cNvPr>
          <p:cNvSpPr/>
          <p:nvPr/>
        </p:nvSpPr>
        <p:spPr>
          <a:xfrm>
            <a:off x="206363" y="4953799"/>
            <a:ext cx="103020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7ED8F62-E276-3F98-0018-A04C81B5FF04}"/>
              </a:ext>
            </a:extLst>
          </p:cNvPr>
          <p:cNvSpPr/>
          <p:nvPr/>
        </p:nvSpPr>
        <p:spPr>
          <a:xfrm>
            <a:off x="206363" y="4702627"/>
            <a:ext cx="103020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C2EFE01-8DF7-39E4-A144-6B5E05D52886}"/>
              </a:ext>
            </a:extLst>
          </p:cNvPr>
          <p:cNvSpPr txBox="1"/>
          <p:nvPr/>
        </p:nvSpPr>
        <p:spPr>
          <a:xfrm>
            <a:off x="3930777" y="4374352"/>
            <a:ext cx="15636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Traoré Ismaël M</a:t>
            </a:r>
            <a:endParaRPr lang="fr-FR" b="1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4C9933C-095C-D4E2-75D2-0F7B653255DD}"/>
              </a:ext>
            </a:extLst>
          </p:cNvPr>
          <p:cNvSpPr txBox="1"/>
          <p:nvPr/>
        </p:nvSpPr>
        <p:spPr>
          <a:xfrm>
            <a:off x="4477471" y="2678390"/>
            <a:ext cx="6112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Par </a:t>
            </a:r>
          </a:p>
        </p:txBody>
      </p:sp>
      <p:sp>
        <p:nvSpPr>
          <p:cNvPr id="2" name="Forme libre 37">
            <a:extLst>
              <a:ext uri="{FF2B5EF4-FFF2-40B4-BE49-F238E27FC236}">
                <a16:creationId xmlns:a16="http://schemas.microsoft.com/office/drawing/2014/main" id="{7726D27F-8AFC-8380-43DE-2DD2FB73FF2F}"/>
              </a:ext>
            </a:extLst>
          </p:cNvPr>
          <p:cNvSpPr/>
          <p:nvPr/>
        </p:nvSpPr>
        <p:spPr>
          <a:xfrm>
            <a:off x="4157913" y="3098789"/>
            <a:ext cx="1109374" cy="1149270"/>
          </a:xfrm>
          <a:custGeom>
            <a:avLst/>
            <a:gdLst>
              <a:gd name="connsiteX0" fmla="*/ 0 w 986334"/>
              <a:gd name="connsiteY0" fmla="*/ 493167 h 986334"/>
              <a:gd name="connsiteX1" fmla="*/ 493167 w 986334"/>
              <a:gd name="connsiteY1" fmla="*/ 0 h 986334"/>
              <a:gd name="connsiteX2" fmla="*/ 986334 w 986334"/>
              <a:gd name="connsiteY2" fmla="*/ 493167 h 986334"/>
              <a:gd name="connsiteX3" fmla="*/ 493167 w 986334"/>
              <a:gd name="connsiteY3" fmla="*/ 986334 h 986334"/>
              <a:gd name="connsiteX4" fmla="*/ 0 w 986334"/>
              <a:gd name="connsiteY4" fmla="*/ 493167 h 986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334" h="986334">
                <a:moveTo>
                  <a:pt x="0" y="493167"/>
                </a:moveTo>
                <a:cubicBezTo>
                  <a:pt x="0" y="220798"/>
                  <a:pt x="220798" y="0"/>
                  <a:pt x="493167" y="0"/>
                </a:cubicBezTo>
                <a:cubicBezTo>
                  <a:pt x="765536" y="0"/>
                  <a:pt x="986334" y="220798"/>
                  <a:pt x="986334" y="493167"/>
                </a:cubicBezTo>
                <a:cubicBezTo>
                  <a:pt x="986334" y="765536"/>
                  <a:pt x="765536" y="986334"/>
                  <a:pt x="493167" y="986334"/>
                </a:cubicBezTo>
                <a:cubicBezTo>
                  <a:pt x="220798" y="986334"/>
                  <a:pt x="0" y="765536"/>
                  <a:pt x="0" y="493167"/>
                </a:cubicBezTo>
                <a:close/>
              </a:path>
            </a:pathLst>
          </a:cu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2391" t="-16919" r="-35639" b="-89039"/>
            </a:stretch>
          </a:blipFill>
          <a:ln w="38100">
            <a:solidFill>
              <a:srgbClr val="C69206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6035" tIns="166035" rIns="166035" bIns="166035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fr-FR" sz="1700" kern="1200" dirty="0"/>
          </a:p>
        </p:txBody>
      </p:sp>
    </p:spTree>
    <p:extLst>
      <p:ext uri="{BB962C8B-B14F-4D97-AF65-F5344CB8AC3E}">
        <p14:creationId xmlns:p14="http://schemas.microsoft.com/office/powerpoint/2010/main" val="498763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6">
          <a:extLst>
            <a:ext uri="{FF2B5EF4-FFF2-40B4-BE49-F238E27FC236}">
              <a16:creationId xmlns:a16="http://schemas.microsoft.com/office/drawing/2014/main" id="{D1F861C1-C366-5F46-1A4B-D3A3591A6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42">
            <a:extLst>
              <a:ext uri="{FF2B5EF4-FFF2-40B4-BE49-F238E27FC236}">
                <a16:creationId xmlns:a16="http://schemas.microsoft.com/office/drawing/2014/main" id="{B6915309-1E16-C134-45CE-87A1BA9A4276}"/>
              </a:ext>
            </a:extLst>
          </p:cNvPr>
          <p:cNvSpPr txBox="1"/>
          <p:nvPr/>
        </p:nvSpPr>
        <p:spPr>
          <a:xfrm>
            <a:off x="4786604" y="3580417"/>
            <a:ext cx="10213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23 Jours</a:t>
            </a:r>
            <a:endParaRPr/>
          </a:p>
        </p:txBody>
      </p:sp>
      <p:sp>
        <p:nvSpPr>
          <p:cNvPr id="2333" name="Google Shape;2333;p42">
            <a:extLst>
              <a:ext uri="{FF2B5EF4-FFF2-40B4-BE49-F238E27FC236}">
                <a16:creationId xmlns:a16="http://schemas.microsoft.com/office/drawing/2014/main" id="{0A868A9F-5579-0962-A500-DE2080AE4180}"/>
              </a:ext>
            </a:extLst>
          </p:cNvPr>
          <p:cNvSpPr txBox="1"/>
          <p:nvPr/>
        </p:nvSpPr>
        <p:spPr>
          <a:xfrm>
            <a:off x="4077615" y="4131273"/>
            <a:ext cx="10213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97 Jours</a:t>
            </a:r>
            <a:endParaRPr/>
          </a:p>
        </p:txBody>
      </p:sp>
      <p:sp>
        <p:nvSpPr>
          <p:cNvPr id="2342" name="Google Shape;2342;p42">
            <a:extLst>
              <a:ext uri="{FF2B5EF4-FFF2-40B4-BE49-F238E27FC236}">
                <a16:creationId xmlns:a16="http://schemas.microsoft.com/office/drawing/2014/main" id="{FB7C7E21-71F2-A85B-922F-77F870A7F3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1ECBE18D-31B3-05D1-559E-F3C31FB1D387}"/>
              </a:ext>
            </a:extLst>
          </p:cNvPr>
          <p:cNvSpPr/>
          <p:nvPr/>
        </p:nvSpPr>
        <p:spPr>
          <a:xfrm>
            <a:off x="7867792" y="-1407883"/>
            <a:ext cx="2132602" cy="2110664"/>
          </a:xfrm>
          <a:prstGeom prst="ellipse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B8074BB8-FA35-7D34-99FF-5DAFC82F3139}"/>
              </a:ext>
            </a:extLst>
          </p:cNvPr>
          <p:cNvSpPr/>
          <p:nvPr/>
        </p:nvSpPr>
        <p:spPr>
          <a:xfrm>
            <a:off x="8701344" y="737519"/>
            <a:ext cx="232749" cy="229388"/>
          </a:xfrm>
          <a:prstGeom prst="ellipse">
            <a:avLst/>
          </a:prstGeom>
          <a:solidFill>
            <a:srgbClr val="1C9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08B9C58E-439A-42A1-18C5-4AF04C63EA8C}"/>
              </a:ext>
            </a:extLst>
          </p:cNvPr>
          <p:cNvSpPr/>
          <p:nvPr/>
        </p:nvSpPr>
        <p:spPr>
          <a:xfrm>
            <a:off x="7770409" y="142243"/>
            <a:ext cx="177308" cy="174015"/>
          </a:xfrm>
          <a:prstGeom prst="ellipse">
            <a:avLst/>
          </a:prstGeom>
          <a:solidFill>
            <a:srgbClr val="1C9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E2E029-F04D-9095-69AE-8BE819FDAA2E}"/>
              </a:ext>
            </a:extLst>
          </p:cNvPr>
          <p:cNvSpPr/>
          <p:nvPr/>
        </p:nvSpPr>
        <p:spPr>
          <a:xfrm>
            <a:off x="-34322" y="-61472"/>
            <a:ext cx="825023" cy="5266443"/>
          </a:xfrm>
          <a:prstGeom prst="rect">
            <a:avLst/>
          </a:prstGeom>
          <a:solidFill>
            <a:srgbClr val="0716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71637"/>
              </a:solidFill>
            </a:endParaRP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044A3647-092C-E76C-4770-6C8AB29DB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817" y="81727"/>
            <a:ext cx="3440129" cy="638085"/>
          </a:xfrm>
        </p:spPr>
        <p:txBody>
          <a:bodyPr/>
          <a:lstStyle/>
          <a:p>
            <a:r>
              <a:rPr lang="fr-FR" sz="3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fr-FR" sz="3200" b="1" dirty="0">
                <a:solidFill>
                  <a:srgbClr val="000000"/>
                </a:solidFill>
                <a:latin typeface="Arial" panose="020B0604020202020204" pitchFamily="34" charset="0"/>
              </a:rPr>
              <a:t>INTRODUCTION</a:t>
            </a:r>
            <a:endParaRPr lang="fr-FR" sz="7200" b="1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D9E3D372-C2A5-A2AE-B219-59ABE3A3662A}"/>
              </a:ext>
            </a:extLst>
          </p:cNvPr>
          <p:cNvSpPr/>
          <p:nvPr/>
        </p:nvSpPr>
        <p:spPr>
          <a:xfrm>
            <a:off x="206363" y="4953799"/>
            <a:ext cx="103020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E3ADF1C-4A4C-0F2D-C92E-7521164D216D}"/>
              </a:ext>
            </a:extLst>
          </p:cNvPr>
          <p:cNvSpPr/>
          <p:nvPr/>
        </p:nvSpPr>
        <p:spPr>
          <a:xfrm>
            <a:off x="206363" y="4702627"/>
            <a:ext cx="103020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5">
            <a:extLst>
              <a:ext uri="{FF2B5EF4-FFF2-40B4-BE49-F238E27FC236}">
                <a16:creationId xmlns:a16="http://schemas.microsoft.com/office/drawing/2014/main" id="{E3E1B8CA-B008-4833-F187-968B0ABD9F18}"/>
              </a:ext>
            </a:extLst>
          </p:cNvPr>
          <p:cNvSpPr txBox="1">
            <a:spLocks/>
          </p:cNvSpPr>
          <p:nvPr/>
        </p:nvSpPr>
        <p:spPr>
          <a:xfrm>
            <a:off x="1458523" y="1005585"/>
            <a:ext cx="1721563" cy="45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fr-FR" sz="2000" b="1" i="0" u="none" strike="noStrike" dirty="0">
                <a:solidFill>
                  <a:srgbClr val="C69206"/>
                </a:solidFill>
                <a:effectLst/>
                <a:latin typeface="Arial" panose="020B0604020202020204" pitchFamily="34" charset="0"/>
              </a:rPr>
              <a:t>Contexte</a:t>
            </a:r>
            <a:endParaRPr lang="fr-FR" sz="8000" b="1" dirty="0">
              <a:solidFill>
                <a:srgbClr val="C69206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B94FE554-1FEE-6CDC-1F60-2ECE2B11B425}"/>
              </a:ext>
            </a:extLst>
          </p:cNvPr>
          <p:cNvSpPr/>
          <p:nvPr/>
        </p:nvSpPr>
        <p:spPr>
          <a:xfrm>
            <a:off x="1636766" y="1167169"/>
            <a:ext cx="111520" cy="118331"/>
          </a:xfrm>
          <a:prstGeom prst="ellipse">
            <a:avLst/>
          </a:prstGeom>
          <a:solidFill>
            <a:srgbClr val="071637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16" name="Titre 5">
            <a:extLst>
              <a:ext uri="{FF2B5EF4-FFF2-40B4-BE49-F238E27FC236}">
                <a16:creationId xmlns:a16="http://schemas.microsoft.com/office/drawing/2014/main" id="{B1C648E8-9D4A-F996-E401-4350F00533A5}"/>
              </a:ext>
            </a:extLst>
          </p:cNvPr>
          <p:cNvSpPr txBox="1">
            <a:spLocks/>
          </p:cNvSpPr>
          <p:nvPr/>
        </p:nvSpPr>
        <p:spPr>
          <a:xfrm>
            <a:off x="1237473" y="1340389"/>
            <a:ext cx="7098261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rtl="0" fontAlgn="base">
              <a:spcBef>
                <a:spcPts val="1200"/>
              </a:spcBef>
              <a:spcAft>
                <a:spcPts val="1200"/>
              </a:spcAft>
            </a:pPr>
            <a:r>
              <a:rPr lang="fr-FR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 commerce et la grande distribution génèrent une grande quantité de données.</a:t>
            </a:r>
          </a:p>
        </p:txBody>
      </p:sp>
      <p:sp>
        <p:nvSpPr>
          <p:cNvPr id="17" name="Titre 5">
            <a:extLst>
              <a:ext uri="{FF2B5EF4-FFF2-40B4-BE49-F238E27FC236}">
                <a16:creationId xmlns:a16="http://schemas.microsoft.com/office/drawing/2014/main" id="{891F05DF-1AC3-F5EA-28F9-E1F32D6CBD10}"/>
              </a:ext>
            </a:extLst>
          </p:cNvPr>
          <p:cNvSpPr txBox="1">
            <a:spLocks/>
          </p:cNvSpPr>
          <p:nvPr/>
        </p:nvSpPr>
        <p:spPr>
          <a:xfrm>
            <a:off x="1276187" y="1584916"/>
            <a:ext cx="7541531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rtl="0" fontAlgn="base">
              <a:spcBef>
                <a:spcPts val="1200"/>
              </a:spcBef>
              <a:spcAft>
                <a:spcPts val="1200"/>
              </a:spcAft>
            </a:pPr>
            <a:r>
              <a:rPr lang="fr-FR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Une bonne analyse permet d’optimiser les performances commerciales et la rentabilité.</a:t>
            </a:r>
          </a:p>
        </p:txBody>
      </p:sp>
      <p:sp>
        <p:nvSpPr>
          <p:cNvPr id="18" name="Titre 5">
            <a:extLst>
              <a:ext uri="{FF2B5EF4-FFF2-40B4-BE49-F238E27FC236}">
                <a16:creationId xmlns:a16="http://schemas.microsoft.com/office/drawing/2014/main" id="{676C7914-8EAA-AFEF-182B-488C39BBF2C7}"/>
              </a:ext>
            </a:extLst>
          </p:cNvPr>
          <p:cNvSpPr txBox="1">
            <a:spLocks/>
          </p:cNvSpPr>
          <p:nvPr/>
        </p:nvSpPr>
        <p:spPr>
          <a:xfrm>
            <a:off x="1509652" y="2458912"/>
            <a:ext cx="1721563" cy="45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fr-FR" sz="2000" b="1" i="0" u="none" strike="noStrike" dirty="0">
                <a:solidFill>
                  <a:srgbClr val="C69206"/>
                </a:solidFill>
                <a:effectLst/>
                <a:latin typeface="Arial" panose="020B0604020202020204" pitchFamily="34" charset="0"/>
              </a:rPr>
              <a:t>Objectifs</a:t>
            </a:r>
            <a:endParaRPr lang="fr-FR" sz="8000" b="1" dirty="0">
              <a:solidFill>
                <a:srgbClr val="C69206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FC1431EC-5835-C998-F1D0-982213A547D4}"/>
              </a:ext>
            </a:extLst>
          </p:cNvPr>
          <p:cNvSpPr/>
          <p:nvPr/>
        </p:nvSpPr>
        <p:spPr>
          <a:xfrm>
            <a:off x="1634848" y="2648678"/>
            <a:ext cx="111520" cy="115083"/>
          </a:xfrm>
          <a:prstGeom prst="ellipse">
            <a:avLst/>
          </a:prstGeom>
          <a:solidFill>
            <a:srgbClr val="071637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itre 5">
            <a:extLst>
              <a:ext uri="{FF2B5EF4-FFF2-40B4-BE49-F238E27FC236}">
                <a16:creationId xmlns:a16="http://schemas.microsoft.com/office/drawing/2014/main" id="{D988A115-1553-C4A0-2386-067FA4A0505F}"/>
              </a:ext>
            </a:extLst>
          </p:cNvPr>
          <p:cNvSpPr txBox="1">
            <a:spLocks/>
          </p:cNvSpPr>
          <p:nvPr/>
        </p:nvSpPr>
        <p:spPr>
          <a:xfrm>
            <a:off x="1509652" y="2814211"/>
            <a:ext cx="5888589" cy="51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rtl="0" fontAlgn="base">
              <a:spcBef>
                <a:spcPts val="1200"/>
              </a:spcBef>
              <a:spcAft>
                <a:spcPts val="1200"/>
              </a:spcAft>
            </a:pPr>
            <a:r>
              <a:rPr lang="fr-F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Analyser les ventes et les performances commerciales.</a:t>
            </a:r>
            <a:endParaRPr lang="fr-FR" sz="1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Titre 5">
            <a:extLst>
              <a:ext uri="{FF2B5EF4-FFF2-40B4-BE49-F238E27FC236}">
                <a16:creationId xmlns:a16="http://schemas.microsoft.com/office/drawing/2014/main" id="{C11B6402-5E97-CACF-A8B5-BF7ED80BEBF1}"/>
              </a:ext>
            </a:extLst>
          </p:cNvPr>
          <p:cNvSpPr txBox="1">
            <a:spLocks/>
          </p:cNvSpPr>
          <p:nvPr/>
        </p:nvSpPr>
        <p:spPr>
          <a:xfrm>
            <a:off x="858538" y="3127750"/>
            <a:ext cx="5888589" cy="51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rtl="0" fontAlgn="base">
              <a:spcBef>
                <a:spcPts val="1200"/>
              </a:spcBef>
              <a:spcAft>
                <a:spcPts val="1200"/>
              </a:spcAft>
            </a:pPr>
            <a:r>
              <a:rPr lang="fr-F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Comprendre le comportement des clients.</a:t>
            </a:r>
            <a:endParaRPr lang="fr-FR" sz="11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Titre 5">
            <a:extLst>
              <a:ext uri="{FF2B5EF4-FFF2-40B4-BE49-F238E27FC236}">
                <a16:creationId xmlns:a16="http://schemas.microsoft.com/office/drawing/2014/main" id="{4023BE75-6F0F-2097-F511-8C11C5FB8208}"/>
              </a:ext>
            </a:extLst>
          </p:cNvPr>
          <p:cNvSpPr txBox="1">
            <a:spLocks/>
          </p:cNvSpPr>
          <p:nvPr/>
        </p:nvSpPr>
        <p:spPr>
          <a:xfrm>
            <a:off x="1402347" y="3470791"/>
            <a:ext cx="4347177" cy="50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rtl="0" fontAlgn="base">
              <a:spcBef>
                <a:spcPts val="1200"/>
              </a:spcBef>
              <a:spcAft>
                <a:spcPts val="1200"/>
              </a:spcAft>
            </a:pPr>
            <a:r>
              <a:rPr lang="fr-F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Optimiser la rentabilité et les marges.</a:t>
            </a:r>
            <a:endParaRPr lang="fr-FR" sz="105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Flèche : droite 24">
            <a:extLst>
              <a:ext uri="{FF2B5EF4-FFF2-40B4-BE49-F238E27FC236}">
                <a16:creationId xmlns:a16="http://schemas.microsoft.com/office/drawing/2014/main" id="{C18D401F-3A4E-71E2-7319-04756FA128C3}"/>
              </a:ext>
            </a:extLst>
          </p:cNvPr>
          <p:cNvSpPr/>
          <p:nvPr/>
        </p:nvSpPr>
        <p:spPr>
          <a:xfrm>
            <a:off x="1509652" y="3164867"/>
            <a:ext cx="125196" cy="847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Flèche : droite 25">
            <a:extLst>
              <a:ext uri="{FF2B5EF4-FFF2-40B4-BE49-F238E27FC236}">
                <a16:creationId xmlns:a16="http://schemas.microsoft.com/office/drawing/2014/main" id="{B587D60F-7B2F-22B1-6CF1-6A8CE4F8388A}"/>
              </a:ext>
            </a:extLst>
          </p:cNvPr>
          <p:cNvSpPr/>
          <p:nvPr/>
        </p:nvSpPr>
        <p:spPr>
          <a:xfrm>
            <a:off x="1509652" y="3475059"/>
            <a:ext cx="125196" cy="822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Flèche : droite 26">
            <a:extLst>
              <a:ext uri="{FF2B5EF4-FFF2-40B4-BE49-F238E27FC236}">
                <a16:creationId xmlns:a16="http://schemas.microsoft.com/office/drawing/2014/main" id="{53CC5ACB-33A5-0369-3CDE-E81674522A5D}"/>
              </a:ext>
            </a:extLst>
          </p:cNvPr>
          <p:cNvSpPr/>
          <p:nvPr/>
        </p:nvSpPr>
        <p:spPr>
          <a:xfrm>
            <a:off x="1509652" y="3805203"/>
            <a:ext cx="125196" cy="822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1433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6">
          <a:extLst>
            <a:ext uri="{FF2B5EF4-FFF2-40B4-BE49-F238E27FC236}">
              <a16:creationId xmlns:a16="http://schemas.microsoft.com/office/drawing/2014/main" id="{4027DA6C-902F-E567-9056-D5F0C9ED0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A0BCC937-5C31-2628-E052-BFB14B9D0D03}"/>
              </a:ext>
            </a:extLst>
          </p:cNvPr>
          <p:cNvSpPr/>
          <p:nvPr/>
        </p:nvSpPr>
        <p:spPr>
          <a:xfrm>
            <a:off x="7509152" y="-1450665"/>
            <a:ext cx="2549131" cy="2661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8707CB-C54F-16A1-1CE3-8BFC051A24C8}"/>
              </a:ext>
            </a:extLst>
          </p:cNvPr>
          <p:cNvSpPr/>
          <p:nvPr/>
        </p:nvSpPr>
        <p:spPr>
          <a:xfrm>
            <a:off x="8309334" y="-250950"/>
            <a:ext cx="856446" cy="5805076"/>
          </a:xfrm>
          <a:prstGeom prst="rect">
            <a:avLst/>
          </a:prstGeom>
          <a:solidFill>
            <a:srgbClr val="0716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7163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A7BC87-72A7-C5B4-C315-F5FB511CF335}"/>
              </a:ext>
            </a:extLst>
          </p:cNvPr>
          <p:cNvSpPr/>
          <p:nvPr/>
        </p:nvSpPr>
        <p:spPr>
          <a:xfrm>
            <a:off x="-45643" y="-198687"/>
            <a:ext cx="793269" cy="53421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</a:endParaRPr>
          </a:p>
        </p:txBody>
      </p:sp>
      <p:sp>
        <p:nvSpPr>
          <p:cNvPr id="2332" name="Google Shape;2332;p42">
            <a:extLst>
              <a:ext uri="{FF2B5EF4-FFF2-40B4-BE49-F238E27FC236}">
                <a16:creationId xmlns:a16="http://schemas.microsoft.com/office/drawing/2014/main" id="{0D3F68E4-AA3E-37E6-6005-3764A84D0AD0}"/>
              </a:ext>
            </a:extLst>
          </p:cNvPr>
          <p:cNvSpPr txBox="1"/>
          <p:nvPr/>
        </p:nvSpPr>
        <p:spPr>
          <a:xfrm>
            <a:off x="4786604" y="3580417"/>
            <a:ext cx="10213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23 Jours</a:t>
            </a:r>
            <a:endParaRPr/>
          </a:p>
        </p:txBody>
      </p:sp>
      <p:sp>
        <p:nvSpPr>
          <p:cNvPr id="2333" name="Google Shape;2333;p42">
            <a:extLst>
              <a:ext uri="{FF2B5EF4-FFF2-40B4-BE49-F238E27FC236}">
                <a16:creationId xmlns:a16="http://schemas.microsoft.com/office/drawing/2014/main" id="{70063622-6F5C-C434-E1AB-57CF6503F822}"/>
              </a:ext>
            </a:extLst>
          </p:cNvPr>
          <p:cNvSpPr txBox="1"/>
          <p:nvPr/>
        </p:nvSpPr>
        <p:spPr>
          <a:xfrm>
            <a:off x="4077615" y="4131273"/>
            <a:ext cx="10213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97 Jours</a:t>
            </a:r>
            <a:endParaRPr/>
          </a:p>
        </p:txBody>
      </p:sp>
      <p:sp>
        <p:nvSpPr>
          <p:cNvPr id="2342" name="Google Shape;2342;p42">
            <a:extLst>
              <a:ext uri="{FF2B5EF4-FFF2-40B4-BE49-F238E27FC236}">
                <a16:creationId xmlns:a16="http://schemas.microsoft.com/office/drawing/2014/main" id="{4789FF98-2F58-26F0-175F-599143341D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9E3327D-A5D4-E37E-99EF-3AA2706BFB18}"/>
              </a:ext>
            </a:extLst>
          </p:cNvPr>
          <p:cNvSpPr/>
          <p:nvPr/>
        </p:nvSpPr>
        <p:spPr>
          <a:xfrm>
            <a:off x="-1038820" y="-1168453"/>
            <a:ext cx="2132602" cy="2110664"/>
          </a:xfrm>
          <a:prstGeom prst="ellipse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9E0CF484-262D-2844-7445-C3AB57A81AE3}"/>
              </a:ext>
            </a:extLst>
          </p:cNvPr>
          <p:cNvSpPr/>
          <p:nvPr/>
        </p:nvSpPr>
        <p:spPr>
          <a:xfrm>
            <a:off x="255340" y="952323"/>
            <a:ext cx="187830" cy="178134"/>
          </a:xfrm>
          <a:prstGeom prst="ellipse">
            <a:avLst/>
          </a:prstGeom>
          <a:solidFill>
            <a:srgbClr val="1C9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374382EC-02AC-4AE9-F76A-88A1504560FB}"/>
              </a:ext>
            </a:extLst>
          </p:cNvPr>
          <p:cNvSpPr/>
          <p:nvPr/>
        </p:nvSpPr>
        <p:spPr>
          <a:xfrm>
            <a:off x="1086447" y="82503"/>
            <a:ext cx="177308" cy="174015"/>
          </a:xfrm>
          <a:prstGeom prst="ellipse">
            <a:avLst/>
          </a:prstGeom>
          <a:solidFill>
            <a:srgbClr val="1C9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E2217451-9686-22D6-36A2-84F41D287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363" y="335596"/>
            <a:ext cx="6859080" cy="655013"/>
          </a:xfrm>
        </p:spPr>
        <p:txBody>
          <a:bodyPr/>
          <a:lstStyle/>
          <a:p>
            <a:r>
              <a:rPr lang="fr-FR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MÉTHODOLOGIE ET SOURCES DE DONNÉES</a:t>
            </a:r>
            <a:endParaRPr lang="fr-FR" sz="8800" b="1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F9EAD612-D4DC-A387-E5EE-5E6228E4C02C}"/>
              </a:ext>
            </a:extLst>
          </p:cNvPr>
          <p:cNvSpPr/>
          <p:nvPr/>
        </p:nvSpPr>
        <p:spPr>
          <a:xfrm>
            <a:off x="8740592" y="4692191"/>
            <a:ext cx="103020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E3A7FD5D-A3B5-69BA-1A48-D39B69898243}"/>
              </a:ext>
            </a:extLst>
          </p:cNvPr>
          <p:cNvSpPr/>
          <p:nvPr/>
        </p:nvSpPr>
        <p:spPr>
          <a:xfrm>
            <a:off x="8730083" y="4216602"/>
            <a:ext cx="107267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5">
            <a:extLst>
              <a:ext uri="{FF2B5EF4-FFF2-40B4-BE49-F238E27FC236}">
                <a16:creationId xmlns:a16="http://schemas.microsoft.com/office/drawing/2014/main" id="{71DABD72-FBD7-B844-3037-14EA505E28B4}"/>
              </a:ext>
            </a:extLst>
          </p:cNvPr>
          <p:cNvSpPr txBox="1">
            <a:spLocks/>
          </p:cNvSpPr>
          <p:nvPr/>
        </p:nvSpPr>
        <p:spPr>
          <a:xfrm>
            <a:off x="1312151" y="957294"/>
            <a:ext cx="2920444" cy="45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fr-FR" sz="1600" b="1" dirty="0">
                <a:solidFill>
                  <a:srgbClr val="C69206"/>
                </a:solidFill>
                <a:latin typeface="Arial" panose="020B0604020202020204" pitchFamily="34" charset="0"/>
              </a:rPr>
              <a:t>Sources des données</a:t>
            </a:r>
            <a:endParaRPr lang="fr-FR" sz="6600" b="1" dirty="0">
              <a:solidFill>
                <a:srgbClr val="C69206"/>
              </a:solidFill>
            </a:endParaRPr>
          </a:p>
        </p:txBody>
      </p:sp>
      <p:sp>
        <p:nvSpPr>
          <p:cNvPr id="16" name="Titre 5">
            <a:extLst>
              <a:ext uri="{FF2B5EF4-FFF2-40B4-BE49-F238E27FC236}">
                <a16:creationId xmlns:a16="http://schemas.microsoft.com/office/drawing/2014/main" id="{64F76C6F-6D05-3AE8-D5A0-2C668FE0145C}"/>
              </a:ext>
            </a:extLst>
          </p:cNvPr>
          <p:cNvSpPr txBox="1">
            <a:spLocks/>
          </p:cNvSpPr>
          <p:nvPr/>
        </p:nvSpPr>
        <p:spPr>
          <a:xfrm>
            <a:off x="1568585" y="1182497"/>
            <a:ext cx="6110216" cy="581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lvl="2" algn="l" fontAlgn="base">
              <a:spcBef>
                <a:spcPts val="1200"/>
              </a:spcBef>
              <a:spcAft>
                <a:spcPts val="1200"/>
              </a:spcAft>
            </a:pPr>
            <a:r>
              <a:rPr lang="fr-FR" sz="1400" dirty="0">
                <a:latin typeface="+mj-lt"/>
              </a:rPr>
              <a:t>Les données utilisées pour ce projet ont été récupérées sur </a:t>
            </a:r>
            <a:r>
              <a:rPr lang="fr-FR" sz="1400" dirty="0" err="1">
                <a:latin typeface="+mj-lt"/>
              </a:rPr>
              <a:t>Kaggle</a:t>
            </a:r>
            <a:r>
              <a:rPr lang="fr-FR" sz="1400" dirty="0">
                <a:latin typeface="+mj-lt"/>
              </a:rPr>
              <a:t>, </a:t>
            </a:r>
            <a:r>
              <a:rPr lang="fr-FR" sz="1400" dirty="0" err="1">
                <a:latin typeface="+mj-lt"/>
              </a:rPr>
              <a:t>uneplateforme</a:t>
            </a:r>
            <a:r>
              <a:rPr lang="fr-FR" sz="1400" dirty="0">
                <a:latin typeface="+mj-lt"/>
              </a:rPr>
              <a:t> de partage de </a:t>
            </a:r>
            <a:r>
              <a:rPr lang="fr-FR" sz="1400" dirty="0" err="1">
                <a:latin typeface="+mj-lt"/>
              </a:rPr>
              <a:t>datasets</a:t>
            </a:r>
            <a:r>
              <a:rPr lang="fr-FR" sz="1400" dirty="0">
                <a:latin typeface="+mj-lt"/>
              </a:rPr>
              <a:t> et de challenges en data science.</a:t>
            </a:r>
            <a:endParaRPr lang="fr-FR" sz="2000" i="0" u="none" strike="noStrike" dirty="0"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18" name="Titre 5">
            <a:extLst>
              <a:ext uri="{FF2B5EF4-FFF2-40B4-BE49-F238E27FC236}">
                <a16:creationId xmlns:a16="http://schemas.microsoft.com/office/drawing/2014/main" id="{17492484-4A4A-B9BA-1CF1-E621D05BA0A9}"/>
              </a:ext>
            </a:extLst>
          </p:cNvPr>
          <p:cNvSpPr txBox="1">
            <a:spLocks/>
          </p:cNvSpPr>
          <p:nvPr/>
        </p:nvSpPr>
        <p:spPr>
          <a:xfrm>
            <a:off x="1263755" y="1973382"/>
            <a:ext cx="4922886" cy="45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1600" b="1" i="0" u="none" strike="noStrike" dirty="0">
                <a:solidFill>
                  <a:srgbClr val="C69206"/>
                </a:solidFill>
                <a:effectLst/>
                <a:latin typeface="Arial" panose="020B0604020202020204" pitchFamily="34" charset="0"/>
              </a:rPr>
              <a:t>Nettoyage et transformation des données</a:t>
            </a:r>
            <a:endParaRPr lang="fr-FR" sz="7200" b="1" dirty="0">
              <a:solidFill>
                <a:srgbClr val="C69206"/>
              </a:solidFill>
            </a:endParaRPr>
          </a:p>
        </p:txBody>
      </p:sp>
      <p:sp>
        <p:nvSpPr>
          <p:cNvPr id="25" name="Flèche : droite 24">
            <a:extLst>
              <a:ext uri="{FF2B5EF4-FFF2-40B4-BE49-F238E27FC236}">
                <a16:creationId xmlns:a16="http://schemas.microsoft.com/office/drawing/2014/main" id="{83FC81FC-9690-A373-7FB8-129871A6869B}"/>
              </a:ext>
            </a:extLst>
          </p:cNvPr>
          <p:cNvSpPr/>
          <p:nvPr/>
        </p:nvSpPr>
        <p:spPr>
          <a:xfrm>
            <a:off x="1397868" y="1130714"/>
            <a:ext cx="125196" cy="847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Flèche : droite 25">
            <a:extLst>
              <a:ext uri="{FF2B5EF4-FFF2-40B4-BE49-F238E27FC236}">
                <a16:creationId xmlns:a16="http://schemas.microsoft.com/office/drawing/2014/main" id="{117BF140-2F40-B626-F563-098FD0C27E11}"/>
              </a:ext>
            </a:extLst>
          </p:cNvPr>
          <p:cNvSpPr/>
          <p:nvPr/>
        </p:nvSpPr>
        <p:spPr>
          <a:xfrm>
            <a:off x="1395789" y="2123121"/>
            <a:ext cx="125196" cy="822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Flèche : droite 26">
            <a:extLst>
              <a:ext uri="{FF2B5EF4-FFF2-40B4-BE49-F238E27FC236}">
                <a16:creationId xmlns:a16="http://schemas.microsoft.com/office/drawing/2014/main" id="{B15558B7-431C-DC74-7385-D7A350012CA5}"/>
              </a:ext>
            </a:extLst>
          </p:cNvPr>
          <p:cNvSpPr/>
          <p:nvPr/>
        </p:nvSpPr>
        <p:spPr>
          <a:xfrm>
            <a:off x="1398715" y="3375154"/>
            <a:ext cx="125196" cy="822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019EEDB2-5497-F29B-BB61-28D481A3C02C}"/>
              </a:ext>
            </a:extLst>
          </p:cNvPr>
          <p:cNvSpPr/>
          <p:nvPr/>
        </p:nvSpPr>
        <p:spPr>
          <a:xfrm>
            <a:off x="8734739" y="4462900"/>
            <a:ext cx="107267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itre 5">
            <a:extLst>
              <a:ext uri="{FF2B5EF4-FFF2-40B4-BE49-F238E27FC236}">
                <a16:creationId xmlns:a16="http://schemas.microsoft.com/office/drawing/2014/main" id="{638B1D07-2FA5-B3A8-37D7-DDA23E2DBB1C}"/>
              </a:ext>
            </a:extLst>
          </p:cNvPr>
          <p:cNvSpPr txBox="1">
            <a:spLocks/>
          </p:cNvSpPr>
          <p:nvPr/>
        </p:nvSpPr>
        <p:spPr>
          <a:xfrm>
            <a:off x="538114" y="3204006"/>
            <a:ext cx="4922886" cy="45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1600" b="1" i="0" u="none" strike="noStrike" dirty="0">
                <a:solidFill>
                  <a:srgbClr val="C69206"/>
                </a:solidFill>
                <a:effectLst/>
                <a:latin typeface="Arial" panose="020B0604020202020204" pitchFamily="34" charset="0"/>
              </a:rPr>
              <a:t>Modélisation des données</a:t>
            </a:r>
            <a:endParaRPr lang="fr-FR" sz="6600" b="1" dirty="0">
              <a:solidFill>
                <a:srgbClr val="C69206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0A28BC3-4AFB-6F29-F0F8-DE9C512CF49F}"/>
              </a:ext>
            </a:extLst>
          </p:cNvPr>
          <p:cNvSpPr txBox="1"/>
          <p:nvPr/>
        </p:nvSpPr>
        <p:spPr>
          <a:xfrm>
            <a:off x="1572032" y="2370742"/>
            <a:ext cx="5011165" cy="561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fontAlgn="base">
              <a:spcAft>
                <a:spcPts val="300"/>
              </a:spcAft>
            </a:pPr>
            <a:r>
              <a:rPr lang="fr-F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Suppression des valeurs aberrantes.</a:t>
            </a:r>
            <a:endParaRPr lang="fr-FR" dirty="0">
              <a:latin typeface="Arial" panose="020B0604020202020204" pitchFamily="34" charset="0"/>
            </a:endParaRPr>
          </a:p>
          <a:p>
            <a:pPr lvl="1" fontAlgn="base">
              <a:spcAft>
                <a:spcPts val="300"/>
              </a:spcAft>
            </a:pPr>
            <a:r>
              <a:rPr lang="fr-F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Normalisation des formats de dates et des montants.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AB0AC84-F1A4-028F-1B38-933304E19B97}"/>
              </a:ext>
            </a:extLst>
          </p:cNvPr>
          <p:cNvSpPr txBox="1"/>
          <p:nvPr/>
        </p:nvSpPr>
        <p:spPr>
          <a:xfrm>
            <a:off x="1568585" y="3621097"/>
            <a:ext cx="5946190" cy="561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Aft>
                <a:spcPts val="300"/>
              </a:spcAft>
            </a:pPr>
            <a:r>
              <a:rPr lang="fr-F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Approche en étoile avec des tables de faits et dimensions.</a:t>
            </a:r>
          </a:p>
          <a:p>
            <a:pPr rtl="0" fontAlgn="base">
              <a:spcAft>
                <a:spcPts val="300"/>
              </a:spcAft>
            </a:pPr>
            <a:r>
              <a:rPr lang="fr-F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Relations entre les tables optimisées pour une meilleure performance.</a:t>
            </a:r>
          </a:p>
        </p:txBody>
      </p:sp>
    </p:spTree>
    <p:extLst>
      <p:ext uri="{BB962C8B-B14F-4D97-AF65-F5344CB8AC3E}">
        <p14:creationId xmlns:p14="http://schemas.microsoft.com/office/powerpoint/2010/main" val="1721199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6">
          <a:extLst>
            <a:ext uri="{FF2B5EF4-FFF2-40B4-BE49-F238E27FC236}">
              <a16:creationId xmlns:a16="http://schemas.microsoft.com/office/drawing/2014/main" id="{ED7685EF-E346-7510-ADDB-B99BC1914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3565A2B2-DEDC-323D-680A-CEC9D6DA460F}"/>
              </a:ext>
            </a:extLst>
          </p:cNvPr>
          <p:cNvSpPr/>
          <p:nvPr/>
        </p:nvSpPr>
        <p:spPr>
          <a:xfrm>
            <a:off x="7509152" y="-1087590"/>
            <a:ext cx="2549131" cy="2661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C081A7-E725-9528-9A17-4937CF3305FA}"/>
              </a:ext>
            </a:extLst>
          </p:cNvPr>
          <p:cNvSpPr/>
          <p:nvPr/>
        </p:nvSpPr>
        <p:spPr>
          <a:xfrm>
            <a:off x="8363126" y="-250950"/>
            <a:ext cx="856446" cy="5805076"/>
          </a:xfrm>
          <a:prstGeom prst="rect">
            <a:avLst/>
          </a:prstGeom>
          <a:solidFill>
            <a:srgbClr val="0716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7163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5FE2A6-0AC9-6376-9A89-11524DBEB1DB}"/>
              </a:ext>
            </a:extLst>
          </p:cNvPr>
          <p:cNvSpPr/>
          <p:nvPr/>
        </p:nvSpPr>
        <p:spPr>
          <a:xfrm>
            <a:off x="-45643" y="-198687"/>
            <a:ext cx="793269" cy="53421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</a:endParaRPr>
          </a:p>
        </p:txBody>
      </p:sp>
      <p:sp>
        <p:nvSpPr>
          <p:cNvPr id="2332" name="Google Shape;2332;p42">
            <a:extLst>
              <a:ext uri="{FF2B5EF4-FFF2-40B4-BE49-F238E27FC236}">
                <a16:creationId xmlns:a16="http://schemas.microsoft.com/office/drawing/2014/main" id="{57210889-0029-45DA-3D77-FA27FFAA3CB9}"/>
              </a:ext>
            </a:extLst>
          </p:cNvPr>
          <p:cNvSpPr txBox="1"/>
          <p:nvPr/>
        </p:nvSpPr>
        <p:spPr>
          <a:xfrm>
            <a:off x="4786604" y="3580417"/>
            <a:ext cx="10213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23 Jours</a:t>
            </a:r>
            <a:endParaRPr/>
          </a:p>
        </p:txBody>
      </p:sp>
      <p:sp>
        <p:nvSpPr>
          <p:cNvPr id="2333" name="Google Shape;2333;p42">
            <a:extLst>
              <a:ext uri="{FF2B5EF4-FFF2-40B4-BE49-F238E27FC236}">
                <a16:creationId xmlns:a16="http://schemas.microsoft.com/office/drawing/2014/main" id="{CF73C70F-2F85-B5D2-8F31-54D83E07587D}"/>
              </a:ext>
            </a:extLst>
          </p:cNvPr>
          <p:cNvSpPr txBox="1"/>
          <p:nvPr/>
        </p:nvSpPr>
        <p:spPr>
          <a:xfrm>
            <a:off x="4077615" y="4131273"/>
            <a:ext cx="10213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97 Jours</a:t>
            </a:r>
            <a:endParaRPr/>
          </a:p>
        </p:txBody>
      </p:sp>
      <p:sp>
        <p:nvSpPr>
          <p:cNvPr id="2342" name="Google Shape;2342;p42">
            <a:extLst>
              <a:ext uri="{FF2B5EF4-FFF2-40B4-BE49-F238E27FC236}">
                <a16:creationId xmlns:a16="http://schemas.microsoft.com/office/drawing/2014/main" id="{5C5865CF-C600-AAA8-1362-1957246C13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6E017027-9669-1524-8373-B3E023E53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3" y="27420"/>
            <a:ext cx="4922886" cy="678868"/>
          </a:xfrm>
        </p:spPr>
        <p:txBody>
          <a:bodyPr/>
          <a:lstStyle/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fr-FR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ANALYSE DES VENTES &amp;</a:t>
            </a:r>
            <a:br>
              <a:rPr lang="fr-FR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fr-FR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PERFORMANCES COMMERCIALES</a:t>
            </a:r>
            <a:endParaRPr lang="fr-FR" sz="1600" b="1" dirty="0">
              <a:effectLst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F0B8C17C-7607-0C6E-9A12-B5DF9E601EC9}"/>
              </a:ext>
            </a:extLst>
          </p:cNvPr>
          <p:cNvSpPr/>
          <p:nvPr/>
        </p:nvSpPr>
        <p:spPr>
          <a:xfrm>
            <a:off x="8740592" y="4692191"/>
            <a:ext cx="103020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00E064A-30B8-C330-7F55-F6F3E6153F9B}"/>
              </a:ext>
            </a:extLst>
          </p:cNvPr>
          <p:cNvSpPr/>
          <p:nvPr/>
        </p:nvSpPr>
        <p:spPr>
          <a:xfrm>
            <a:off x="8730083" y="4216602"/>
            <a:ext cx="107267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itre 5">
            <a:extLst>
              <a:ext uri="{FF2B5EF4-FFF2-40B4-BE49-F238E27FC236}">
                <a16:creationId xmlns:a16="http://schemas.microsoft.com/office/drawing/2014/main" id="{DB2F310C-DE03-579A-141C-AB887672C21F}"/>
              </a:ext>
            </a:extLst>
          </p:cNvPr>
          <p:cNvSpPr txBox="1">
            <a:spLocks/>
          </p:cNvSpPr>
          <p:nvPr/>
        </p:nvSpPr>
        <p:spPr>
          <a:xfrm>
            <a:off x="1095577" y="1188157"/>
            <a:ext cx="1992393" cy="40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1800" b="1" i="0" u="none" strike="noStrike" dirty="0">
                <a:solidFill>
                  <a:srgbClr val="C69206"/>
                </a:solidFill>
                <a:effectLst/>
                <a:latin typeface="Arial" panose="020B0604020202020204" pitchFamily="34" charset="0"/>
              </a:rPr>
              <a:t>Indicateurs clés </a:t>
            </a:r>
            <a:endParaRPr lang="fr-FR" sz="7200" b="1" dirty="0">
              <a:solidFill>
                <a:srgbClr val="C69206"/>
              </a:solidFill>
            </a:endParaRPr>
          </a:p>
        </p:txBody>
      </p:sp>
      <p:sp>
        <p:nvSpPr>
          <p:cNvPr id="27" name="Flèche : droite 26">
            <a:extLst>
              <a:ext uri="{FF2B5EF4-FFF2-40B4-BE49-F238E27FC236}">
                <a16:creationId xmlns:a16="http://schemas.microsoft.com/office/drawing/2014/main" id="{6C236E43-37F5-DCB0-3972-46E591CDA2D0}"/>
              </a:ext>
            </a:extLst>
          </p:cNvPr>
          <p:cNvSpPr/>
          <p:nvPr/>
        </p:nvSpPr>
        <p:spPr>
          <a:xfrm>
            <a:off x="3594708" y="3134586"/>
            <a:ext cx="418284" cy="233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898304AC-B584-1B36-42A0-B7FBBBA809DE}"/>
              </a:ext>
            </a:extLst>
          </p:cNvPr>
          <p:cNvSpPr/>
          <p:nvPr/>
        </p:nvSpPr>
        <p:spPr>
          <a:xfrm>
            <a:off x="8734739" y="4462900"/>
            <a:ext cx="107267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itre 5">
            <a:extLst>
              <a:ext uri="{FF2B5EF4-FFF2-40B4-BE49-F238E27FC236}">
                <a16:creationId xmlns:a16="http://schemas.microsoft.com/office/drawing/2014/main" id="{79B2657F-9A72-E3BB-903F-77CE6E400390}"/>
              </a:ext>
            </a:extLst>
          </p:cNvPr>
          <p:cNvSpPr txBox="1">
            <a:spLocks/>
          </p:cNvSpPr>
          <p:nvPr/>
        </p:nvSpPr>
        <p:spPr>
          <a:xfrm>
            <a:off x="1032677" y="3797499"/>
            <a:ext cx="3082259" cy="45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1600" b="0" i="0" u="none" strike="noStrike" dirty="0">
                <a:solidFill>
                  <a:srgbClr val="C6920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fr-FR" sz="1600" b="1" i="0" u="none" strike="noStrike" dirty="0">
                <a:solidFill>
                  <a:srgbClr val="C69206"/>
                </a:solidFill>
                <a:effectLst/>
                <a:latin typeface="Arial" panose="020B0604020202020204" pitchFamily="34" charset="0"/>
              </a:rPr>
              <a:t>Interprétation des tendances</a:t>
            </a:r>
            <a:endParaRPr lang="fr-FR" sz="6000" b="1" dirty="0">
              <a:solidFill>
                <a:srgbClr val="C69206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E7FD1854-D38B-C20C-28FB-E6C180D92F8A}"/>
              </a:ext>
            </a:extLst>
          </p:cNvPr>
          <p:cNvSpPr txBox="1"/>
          <p:nvPr/>
        </p:nvSpPr>
        <p:spPr>
          <a:xfrm>
            <a:off x="225820" y="1697622"/>
            <a:ext cx="22122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fontAlgn="base">
              <a:spcAft>
                <a:spcPts val="300"/>
              </a:spcAft>
            </a:pPr>
            <a:r>
              <a:rPr lang="fr-FR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Chiffre </a:t>
            </a:r>
            <a:r>
              <a:rPr lang="fr-FR" b="1" i="0" u="none" strike="noStrike" dirty="0">
                <a:solidFill>
                  <a:srgbClr val="071637"/>
                </a:solidFill>
                <a:effectLst/>
                <a:latin typeface="Arial" panose="020B0604020202020204" pitchFamily="34" charset="0"/>
              </a:rPr>
              <a:t>d'affaires</a:t>
            </a:r>
            <a:r>
              <a:rPr lang="fr-FR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total :</a:t>
            </a:r>
            <a:endParaRPr lang="fr-FR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32833EA-24EE-BCAC-B488-82EAA24E4A80}"/>
              </a:ext>
            </a:extLst>
          </p:cNvPr>
          <p:cNvSpPr txBox="1"/>
          <p:nvPr/>
        </p:nvSpPr>
        <p:spPr>
          <a:xfrm>
            <a:off x="275081" y="4224746"/>
            <a:ext cx="6968239" cy="561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Hausse des ventes au quatrième trimestre (</a:t>
            </a:r>
            <a:r>
              <a:rPr lang="fr-FR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T4)</a:t>
            </a:r>
            <a:r>
              <a:rPr lang="fr-F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en raison des promotions.</a:t>
            </a:r>
          </a:p>
          <a:p>
            <a:pPr rtl="0" fontAlgn="base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Meilleures performances enregistrées dans la région de l’Ouest : </a:t>
            </a:r>
            <a:r>
              <a:rPr lang="fr-FR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764 508 ( 33,3 %)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262629-BA6E-5B53-11B1-21F832A2AB68}"/>
              </a:ext>
            </a:extLst>
          </p:cNvPr>
          <p:cNvSpPr/>
          <p:nvPr/>
        </p:nvSpPr>
        <p:spPr>
          <a:xfrm>
            <a:off x="-142520" y="855340"/>
            <a:ext cx="223943" cy="3718549"/>
          </a:xfrm>
          <a:prstGeom prst="rect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6DAF84-8346-974D-BB0C-34DB50860BA4}"/>
              </a:ext>
            </a:extLst>
          </p:cNvPr>
          <p:cNvSpPr/>
          <p:nvPr/>
        </p:nvSpPr>
        <p:spPr>
          <a:xfrm>
            <a:off x="538115" y="980145"/>
            <a:ext cx="4033886" cy="45719"/>
          </a:xfrm>
          <a:prstGeom prst="rect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Larme 16">
            <a:extLst>
              <a:ext uri="{FF2B5EF4-FFF2-40B4-BE49-F238E27FC236}">
                <a16:creationId xmlns:a16="http://schemas.microsoft.com/office/drawing/2014/main" id="{AE28646E-F637-4F7F-672B-7B0ED66A7BAC}"/>
              </a:ext>
            </a:extLst>
          </p:cNvPr>
          <p:cNvSpPr/>
          <p:nvPr/>
        </p:nvSpPr>
        <p:spPr>
          <a:xfrm>
            <a:off x="999171" y="1359499"/>
            <a:ext cx="125847" cy="119850"/>
          </a:xfrm>
          <a:prstGeom prst="teardrop">
            <a:avLst/>
          </a:prstGeom>
          <a:noFill/>
          <a:ln>
            <a:solidFill>
              <a:srgbClr val="C69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D5914FCE-DC9E-30DA-E298-A04178800501}"/>
              </a:ext>
            </a:extLst>
          </p:cNvPr>
          <p:cNvSpPr/>
          <p:nvPr/>
        </p:nvSpPr>
        <p:spPr>
          <a:xfrm>
            <a:off x="2313722" y="1697622"/>
            <a:ext cx="1277358" cy="307777"/>
          </a:xfrm>
          <a:prstGeom prst="roundRect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30281A"/>
              </a:solidFill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DF8AB28-E5ED-B214-0128-3A6A1AC13600}"/>
              </a:ext>
            </a:extLst>
          </p:cNvPr>
          <p:cNvSpPr txBox="1"/>
          <p:nvPr/>
        </p:nvSpPr>
        <p:spPr>
          <a:xfrm>
            <a:off x="3698589" y="1692652"/>
            <a:ext cx="20496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fontAlgn="base">
              <a:spcAft>
                <a:spcPts val="300"/>
              </a:spcAft>
            </a:pPr>
            <a:r>
              <a:rPr lang="fr-FR" sz="1600" b="1" i="0" u="none" strike="noStrike" dirty="0">
                <a:solidFill>
                  <a:srgbClr val="071637"/>
                </a:solidFill>
                <a:effectLst/>
                <a:latin typeface="Arial" panose="020B0604020202020204" pitchFamily="34" charset="0"/>
              </a:rPr>
              <a:t>Volume des ventes</a:t>
            </a:r>
            <a:endParaRPr lang="fr-FR" sz="1050" b="0" i="0" u="none" strike="noStrike" dirty="0">
              <a:solidFill>
                <a:srgbClr val="071637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26738EDD-1034-5ED4-6DE1-29B4103BAD04}"/>
              </a:ext>
            </a:extLst>
          </p:cNvPr>
          <p:cNvSpPr txBox="1"/>
          <p:nvPr/>
        </p:nvSpPr>
        <p:spPr>
          <a:xfrm>
            <a:off x="186635" y="2252876"/>
            <a:ext cx="24499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fontAlgn="base">
              <a:spcAft>
                <a:spcPts val="300"/>
              </a:spcAft>
            </a:pPr>
            <a:r>
              <a:rPr lang="fr-FR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Produits les plus vendus :</a:t>
            </a:r>
            <a:endParaRPr lang="fr-FR" sz="10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048F307B-AB73-26C4-9269-9FEF2BB238AB}"/>
              </a:ext>
            </a:extLst>
          </p:cNvPr>
          <p:cNvSpPr/>
          <p:nvPr/>
        </p:nvSpPr>
        <p:spPr>
          <a:xfrm>
            <a:off x="5807923" y="1689276"/>
            <a:ext cx="963066" cy="307777"/>
          </a:xfrm>
          <a:prstGeom prst="roundRect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C69206"/>
              </a:solidFill>
            </a:endParaRPr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5EC350D3-F29A-A6F7-723E-0D3F966D5DFD}"/>
              </a:ext>
            </a:extLst>
          </p:cNvPr>
          <p:cNvSpPr/>
          <p:nvPr/>
        </p:nvSpPr>
        <p:spPr>
          <a:xfrm>
            <a:off x="2526674" y="2252876"/>
            <a:ext cx="858740" cy="307777"/>
          </a:xfrm>
          <a:prstGeom prst="roundRect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71637"/>
              </a:solidFill>
            </a:endParaRPr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E47C2B29-57A7-B9D5-C9CA-AE56A339ACEE}"/>
              </a:ext>
            </a:extLst>
          </p:cNvPr>
          <p:cNvSpPr/>
          <p:nvPr/>
        </p:nvSpPr>
        <p:spPr>
          <a:xfrm>
            <a:off x="3445090" y="2252026"/>
            <a:ext cx="1023810" cy="307777"/>
          </a:xfrm>
          <a:prstGeom prst="roundRect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71637"/>
              </a:solidFill>
            </a:endParaRPr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776591CF-538C-57F4-C1AE-8B0BCD9AA8DB}"/>
              </a:ext>
            </a:extLst>
          </p:cNvPr>
          <p:cNvSpPr/>
          <p:nvPr/>
        </p:nvSpPr>
        <p:spPr>
          <a:xfrm>
            <a:off x="4550565" y="2248252"/>
            <a:ext cx="1335546" cy="307777"/>
          </a:xfrm>
          <a:prstGeom prst="roundRect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71637"/>
              </a:solidFill>
            </a:endParaRPr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1DC81446-B3BA-B355-16F4-27971C8C74EF}"/>
              </a:ext>
            </a:extLst>
          </p:cNvPr>
          <p:cNvSpPr/>
          <p:nvPr/>
        </p:nvSpPr>
        <p:spPr>
          <a:xfrm>
            <a:off x="5942076" y="2234820"/>
            <a:ext cx="1335546" cy="307777"/>
          </a:xfrm>
          <a:prstGeom prst="roundRect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71637"/>
              </a:solidFill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C0C7AE8C-72F9-59B0-7179-DDB4D4F89CE6}"/>
              </a:ext>
            </a:extLst>
          </p:cNvPr>
          <p:cNvSpPr txBox="1"/>
          <p:nvPr/>
        </p:nvSpPr>
        <p:spPr>
          <a:xfrm>
            <a:off x="164876" y="3085362"/>
            <a:ext cx="32973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fontAlgn="base">
              <a:spcAft>
                <a:spcPts val="300"/>
              </a:spcAft>
            </a:pPr>
            <a:r>
              <a:rPr lang="fr-FR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Évolution des ventes sur les 12 mois</a:t>
            </a:r>
            <a:endParaRPr lang="fr-FR" sz="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4" name="Image 43">
            <a:extLst>
              <a:ext uri="{FF2B5EF4-FFF2-40B4-BE49-F238E27FC236}">
                <a16:creationId xmlns:a16="http://schemas.microsoft.com/office/drawing/2014/main" id="{302F3BE3-959F-ED4F-E772-F84E8FD879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9" t="9903" r="2827" b="3032"/>
          <a:stretch/>
        </p:blipFill>
        <p:spPr>
          <a:xfrm>
            <a:off x="4399987" y="2587198"/>
            <a:ext cx="3058039" cy="1511060"/>
          </a:xfrm>
          <a:prstGeom prst="rect">
            <a:avLst/>
          </a:prstGeom>
        </p:spPr>
      </p:pic>
      <p:sp>
        <p:nvSpPr>
          <p:cNvPr id="45" name="Larme 44">
            <a:extLst>
              <a:ext uri="{FF2B5EF4-FFF2-40B4-BE49-F238E27FC236}">
                <a16:creationId xmlns:a16="http://schemas.microsoft.com/office/drawing/2014/main" id="{3342BA0E-5388-1D33-C89B-A25C0FCBAA7E}"/>
              </a:ext>
            </a:extLst>
          </p:cNvPr>
          <p:cNvSpPr/>
          <p:nvPr/>
        </p:nvSpPr>
        <p:spPr>
          <a:xfrm>
            <a:off x="992980" y="3955343"/>
            <a:ext cx="125847" cy="119850"/>
          </a:xfrm>
          <a:prstGeom prst="teardrop">
            <a:avLst/>
          </a:prstGeom>
          <a:noFill/>
          <a:ln>
            <a:solidFill>
              <a:srgbClr val="C69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46" name="Titre 5">
            <a:extLst>
              <a:ext uri="{FF2B5EF4-FFF2-40B4-BE49-F238E27FC236}">
                <a16:creationId xmlns:a16="http://schemas.microsoft.com/office/drawing/2014/main" id="{E1FCCFF4-5120-C29D-5B42-3DA2E74F5D69}"/>
              </a:ext>
            </a:extLst>
          </p:cNvPr>
          <p:cNvSpPr txBox="1">
            <a:spLocks/>
          </p:cNvSpPr>
          <p:nvPr/>
        </p:nvSpPr>
        <p:spPr>
          <a:xfrm>
            <a:off x="2313650" y="1625827"/>
            <a:ext cx="1327315" cy="45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2000" b="1" dirty="0">
                <a:solidFill>
                  <a:srgbClr val="FFFFFF"/>
                </a:solidFill>
                <a:latin typeface="Arial" panose="020B0604020202020204" pitchFamily="34" charset="0"/>
              </a:rPr>
              <a:t>2 300 000</a:t>
            </a:r>
            <a:endParaRPr lang="fr-FR" sz="7200" b="1" dirty="0">
              <a:solidFill>
                <a:srgbClr val="FFFFFF"/>
              </a:solidFill>
            </a:endParaRPr>
          </a:p>
        </p:txBody>
      </p:sp>
      <p:sp>
        <p:nvSpPr>
          <p:cNvPr id="47" name="Titre 5">
            <a:extLst>
              <a:ext uri="{FF2B5EF4-FFF2-40B4-BE49-F238E27FC236}">
                <a16:creationId xmlns:a16="http://schemas.microsoft.com/office/drawing/2014/main" id="{B7DC4039-676A-57AF-1C9A-D16885285185}"/>
              </a:ext>
            </a:extLst>
          </p:cNvPr>
          <p:cNvSpPr txBox="1">
            <a:spLocks/>
          </p:cNvSpPr>
          <p:nvPr/>
        </p:nvSpPr>
        <p:spPr>
          <a:xfrm>
            <a:off x="5575086" y="1619994"/>
            <a:ext cx="1428740" cy="45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2000" b="1" dirty="0">
                <a:solidFill>
                  <a:srgbClr val="FFFFFF"/>
                </a:solidFill>
                <a:latin typeface="Arial" panose="020B0604020202020204" pitchFamily="34" charset="0"/>
              </a:rPr>
              <a:t>37 800</a:t>
            </a:r>
            <a:endParaRPr lang="fr-FR" sz="7200" b="1" dirty="0">
              <a:solidFill>
                <a:srgbClr val="FFFFFF"/>
              </a:solidFill>
            </a:endParaRPr>
          </a:p>
        </p:txBody>
      </p:sp>
      <p:sp>
        <p:nvSpPr>
          <p:cNvPr id="48" name="Titre 5">
            <a:extLst>
              <a:ext uri="{FF2B5EF4-FFF2-40B4-BE49-F238E27FC236}">
                <a16:creationId xmlns:a16="http://schemas.microsoft.com/office/drawing/2014/main" id="{CEBBE404-3762-D051-0E05-38406D01A4EA}"/>
              </a:ext>
            </a:extLst>
          </p:cNvPr>
          <p:cNvSpPr txBox="1">
            <a:spLocks/>
          </p:cNvSpPr>
          <p:nvPr/>
        </p:nvSpPr>
        <p:spPr>
          <a:xfrm>
            <a:off x="2437551" y="2194115"/>
            <a:ext cx="1058276" cy="45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1600" b="1" dirty="0" err="1">
                <a:solidFill>
                  <a:srgbClr val="FFFFFF"/>
                </a:solidFill>
                <a:latin typeface="Arial" panose="020B0604020202020204" pitchFamily="34" charset="0"/>
              </a:rPr>
              <a:t>Staples</a:t>
            </a:r>
            <a:endParaRPr lang="fr-FR" sz="7200" b="1" dirty="0">
              <a:solidFill>
                <a:srgbClr val="FFFFFF"/>
              </a:solidFill>
            </a:endParaRPr>
          </a:p>
        </p:txBody>
      </p:sp>
      <p:sp>
        <p:nvSpPr>
          <p:cNvPr id="49" name="Titre 5">
            <a:extLst>
              <a:ext uri="{FF2B5EF4-FFF2-40B4-BE49-F238E27FC236}">
                <a16:creationId xmlns:a16="http://schemas.microsoft.com/office/drawing/2014/main" id="{C7F36324-6414-F411-C1D3-ED7D32D127F2}"/>
              </a:ext>
            </a:extLst>
          </p:cNvPr>
          <p:cNvSpPr txBox="1">
            <a:spLocks/>
          </p:cNvSpPr>
          <p:nvPr/>
        </p:nvSpPr>
        <p:spPr>
          <a:xfrm>
            <a:off x="3237860" y="2204778"/>
            <a:ext cx="1428740" cy="45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1600" b="1" dirty="0" err="1">
                <a:solidFill>
                  <a:srgbClr val="FFFFFF"/>
                </a:solidFill>
                <a:latin typeface="Arial" panose="020B0604020202020204" pitchFamily="34" charset="0"/>
              </a:rPr>
              <a:t>Envelope</a:t>
            </a:r>
            <a:endParaRPr lang="fr-FR" sz="7200" b="1" dirty="0">
              <a:solidFill>
                <a:srgbClr val="FFFFFF"/>
              </a:solidFill>
            </a:endParaRPr>
          </a:p>
        </p:txBody>
      </p:sp>
      <p:sp>
        <p:nvSpPr>
          <p:cNvPr id="50" name="Titre 5">
            <a:extLst>
              <a:ext uri="{FF2B5EF4-FFF2-40B4-BE49-F238E27FC236}">
                <a16:creationId xmlns:a16="http://schemas.microsoft.com/office/drawing/2014/main" id="{A358BBEB-75A9-45D9-D3F8-CCE5DC32484C}"/>
              </a:ext>
            </a:extLst>
          </p:cNvPr>
          <p:cNvSpPr txBox="1">
            <a:spLocks/>
          </p:cNvSpPr>
          <p:nvPr/>
        </p:nvSpPr>
        <p:spPr>
          <a:xfrm>
            <a:off x="4302965" y="2192333"/>
            <a:ext cx="1845391" cy="45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1600" b="1" dirty="0">
                <a:solidFill>
                  <a:srgbClr val="FFFFFF"/>
                </a:solidFill>
                <a:latin typeface="Arial" panose="020B0604020202020204" pitchFamily="34" charset="0"/>
              </a:rPr>
              <a:t>Staple </a:t>
            </a:r>
            <a:r>
              <a:rPr lang="fr-FR" sz="1600" b="1" dirty="0" err="1">
                <a:solidFill>
                  <a:srgbClr val="FFFFFF"/>
                </a:solidFill>
                <a:latin typeface="Arial" panose="020B0604020202020204" pitchFamily="34" charset="0"/>
              </a:rPr>
              <a:t>paper</a:t>
            </a:r>
            <a:endParaRPr lang="fr-FR" sz="6000" b="1" dirty="0">
              <a:solidFill>
                <a:srgbClr val="FFFFFF"/>
              </a:solidFill>
            </a:endParaRPr>
          </a:p>
        </p:txBody>
      </p:sp>
      <p:sp>
        <p:nvSpPr>
          <p:cNvPr id="51" name="Titre 5">
            <a:extLst>
              <a:ext uri="{FF2B5EF4-FFF2-40B4-BE49-F238E27FC236}">
                <a16:creationId xmlns:a16="http://schemas.microsoft.com/office/drawing/2014/main" id="{607F4A2B-DDE7-2C25-3564-14BCD92CAD0F}"/>
              </a:ext>
            </a:extLst>
          </p:cNvPr>
          <p:cNvSpPr txBox="1">
            <a:spLocks/>
          </p:cNvSpPr>
          <p:nvPr/>
        </p:nvSpPr>
        <p:spPr>
          <a:xfrm>
            <a:off x="5942076" y="2197249"/>
            <a:ext cx="1370668" cy="45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1600" b="1" dirty="0">
                <a:solidFill>
                  <a:srgbClr val="FFFFFF"/>
                </a:solidFill>
                <a:latin typeface="Arial" panose="020B0604020202020204" pitchFamily="34" charset="0"/>
              </a:rPr>
              <a:t>Staple </a:t>
            </a:r>
            <a:r>
              <a:rPr lang="fr-FR" sz="1600" b="1" dirty="0" err="1">
                <a:solidFill>
                  <a:srgbClr val="FFFFFF"/>
                </a:solidFill>
                <a:latin typeface="Arial" panose="020B0604020202020204" pitchFamily="34" charset="0"/>
              </a:rPr>
              <a:t>misc</a:t>
            </a:r>
            <a:endParaRPr lang="fr-FR" sz="6000" b="1" dirty="0">
              <a:solidFill>
                <a:srgbClr val="FFFFFF"/>
              </a:solidFill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E40ABDE4-3E9E-1BD4-E447-DD402997F162}"/>
              </a:ext>
            </a:extLst>
          </p:cNvPr>
          <p:cNvSpPr/>
          <p:nvPr/>
        </p:nvSpPr>
        <p:spPr>
          <a:xfrm>
            <a:off x="7312744" y="2218381"/>
            <a:ext cx="1012056" cy="307777"/>
          </a:xfrm>
          <a:prstGeom prst="roundRect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71637"/>
              </a:solidFill>
            </a:endParaRPr>
          </a:p>
        </p:txBody>
      </p:sp>
      <p:sp>
        <p:nvSpPr>
          <p:cNvPr id="52" name="Titre 5">
            <a:extLst>
              <a:ext uri="{FF2B5EF4-FFF2-40B4-BE49-F238E27FC236}">
                <a16:creationId xmlns:a16="http://schemas.microsoft.com/office/drawing/2014/main" id="{CE2AA152-9861-75BA-021C-639445B4A416}"/>
              </a:ext>
            </a:extLst>
          </p:cNvPr>
          <p:cNvSpPr txBox="1">
            <a:spLocks/>
          </p:cNvSpPr>
          <p:nvPr/>
        </p:nvSpPr>
        <p:spPr>
          <a:xfrm>
            <a:off x="7139139" y="2169423"/>
            <a:ext cx="1409453" cy="45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1600" b="1" dirty="0">
                <a:solidFill>
                  <a:srgbClr val="FFFFFF"/>
                </a:solidFill>
                <a:latin typeface="Arial" panose="020B0604020202020204" pitchFamily="34" charset="0"/>
              </a:rPr>
              <a:t>Logitech</a:t>
            </a:r>
            <a:endParaRPr lang="fr-FR" sz="60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173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316">
          <a:extLst>
            <a:ext uri="{FF2B5EF4-FFF2-40B4-BE49-F238E27FC236}">
              <a16:creationId xmlns:a16="http://schemas.microsoft.com/office/drawing/2014/main" id="{F8269C66-C0CD-7BFC-B73F-56B6D7437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2C11FE95-73A7-3B42-D1E6-90AF207206A9}"/>
              </a:ext>
            </a:extLst>
          </p:cNvPr>
          <p:cNvSpPr/>
          <p:nvPr/>
        </p:nvSpPr>
        <p:spPr>
          <a:xfrm>
            <a:off x="7509152" y="-1087590"/>
            <a:ext cx="2549131" cy="2661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2C0EA9-7A4E-D04F-8C7B-C9BC3C86166A}"/>
              </a:ext>
            </a:extLst>
          </p:cNvPr>
          <p:cNvSpPr/>
          <p:nvPr/>
        </p:nvSpPr>
        <p:spPr>
          <a:xfrm>
            <a:off x="8357795" y="-250950"/>
            <a:ext cx="861777" cy="5805076"/>
          </a:xfrm>
          <a:prstGeom prst="rect">
            <a:avLst/>
          </a:prstGeom>
          <a:solidFill>
            <a:srgbClr val="0716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7163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7B13B7-51FB-E15D-55CC-A392C8202629}"/>
              </a:ext>
            </a:extLst>
          </p:cNvPr>
          <p:cNvSpPr/>
          <p:nvPr/>
        </p:nvSpPr>
        <p:spPr>
          <a:xfrm>
            <a:off x="-45643" y="-198687"/>
            <a:ext cx="793269" cy="53421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</a:endParaRPr>
          </a:p>
        </p:txBody>
      </p:sp>
      <p:sp>
        <p:nvSpPr>
          <p:cNvPr id="2342" name="Google Shape;2342;p42">
            <a:extLst>
              <a:ext uri="{FF2B5EF4-FFF2-40B4-BE49-F238E27FC236}">
                <a16:creationId xmlns:a16="http://schemas.microsoft.com/office/drawing/2014/main" id="{A8159B2F-2370-9C2D-470B-FDA33FEE21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0772A79E-224E-CB5D-C664-7DC738C4A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38" y="294235"/>
            <a:ext cx="4019932" cy="487026"/>
          </a:xfrm>
        </p:spPr>
        <p:txBody>
          <a:bodyPr/>
          <a:lstStyle/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fr-FR" sz="105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ANALYSE DES VENTES &amp;</a:t>
            </a:r>
            <a:br>
              <a:rPr lang="fr-FR" sz="105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fr-FR" sz="105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PERFORMANCES COMMERCIALES</a:t>
            </a:r>
            <a:endParaRPr lang="fr-FR" sz="900" b="1" dirty="0">
              <a:effectLst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405CC72B-CB9D-262B-8C2B-D8EE359551D1}"/>
              </a:ext>
            </a:extLst>
          </p:cNvPr>
          <p:cNvSpPr/>
          <p:nvPr/>
        </p:nvSpPr>
        <p:spPr>
          <a:xfrm>
            <a:off x="8740592" y="4692191"/>
            <a:ext cx="103020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D2681F4B-1A6D-6676-90AA-B1B536223D34}"/>
              </a:ext>
            </a:extLst>
          </p:cNvPr>
          <p:cNvSpPr/>
          <p:nvPr/>
        </p:nvSpPr>
        <p:spPr>
          <a:xfrm>
            <a:off x="8730083" y="4216602"/>
            <a:ext cx="107267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itre 5">
            <a:extLst>
              <a:ext uri="{FF2B5EF4-FFF2-40B4-BE49-F238E27FC236}">
                <a16:creationId xmlns:a16="http://schemas.microsoft.com/office/drawing/2014/main" id="{44EF6F76-119A-772A-AC38-40FDA035FE6C}"/>
              </a:ext>
            </a:extLst>
          </p:cNvPr>
          <p:cNvSpPr txBox="1">
            <a:spLocks/>
          </p:cNvSpPr>
          <p:nvPr/>
        </p:nvSpPr>
        <p:spPr>
          <a:xfrm>
            <a:off x="1003330" y="-40587"/>
            <a:ext cx="2116393" cy="48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2400" b="1" i="0" u="none" strike="noStrike" dirty="0">
                <a:solidFill>
                  <a:srgbClr val="C69206"/>
                </a:solidFill>
                <a:effectLst/>
                <a:latin typeface="Arial" panose="020B0604020202020204" pitchFamily="34" charset="0"/>
              </a:rPr>
              <a:t>Visualisation</a:t>
            </a:r>
            <a:endParaRPr lang="fr-FR" sz="8800" b="1" dirty="0">
              <a:solidFill>
                <a:srgbClr val="C69206"/>
              </a:solidFill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7DADAC3D-0C02-2CF6-CC3D-34A0718E1BAA}"/>
              </a:ext>
            </a:extLst>
          </p:cNvPr>
          <p:cNvSpPr/>
          <p:nvPr/>
        </p:nvSpPr>
        <p:spPr>
          <a:xfrm>
            <a:off x="8734739" y="4462900"/>
            <a:ext cx="107267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2C2EF6-695B-0D18-9E35-7364431E2BE5}"/>
              </a:ext>
            </a:extLst>
          </p:cNvPr>
          <p:cNvSpPr/>
          <p:nvPr/>
        </p:nvSpPr>
        <p:spPr>
          <a:xfrm>
            <a:off x="-142520" y="855340"/>
            <a:ext cx="223943" cy="3718549"/>
          </a:xfrm>
          <a:prstGeom prst="rect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5AFC44-6BAE-C624-9772-5B63C24A79E8}"/>
              </a:ext>
            </a:extLst>
          </p:cNvPr>
          <p:cNvSpPr/>
          <p:nvPr/>
        </p:nvSpPr>
        <p:spPr>
          <a:xfrm>
            <a:off x="1136861" y="391623"/>
            <a:ext cx="1819355" cy="45719"/>
          </a:xfrm>
          <a:prstGeom prst="rect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Larme 16">
            <a:extLst>
              <a:ext uri="{FF2B5EF4-FFF2-40B4-BE49-F238E27FC236}">
                <a16:creationId xmlns:a16="http://schemas.microsoft.com/office/drawing/2014/main" id="{E77E1599-4F52-C8B2-09BC-E7908BF76BF4}"/>
              </a:ext>
            </a:extLst>
          </p:cNvPr>
          <p:cNvSpPr/>
          <p:nvPr/>
        </p:nvSpPr>
        <p:spPr>
          <a:xfrm flipV="1">
            <a:off x="811807" y="161837"/>
            <a:ext cx="189621" cy="200410"/>
          </a:xfrm>
          <a:prstGeom prst="teardrop">
            <a:avLst/>
          </a:prstGeom>
          <a:noFill/>
          <a:ln>
            <a:solidFill>
              <a:srgbClr val="C69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B897E2-D214-F752-E2FD-BD933AB9F57D}"/>
              </a:ext>
            </a:extLst>
          </p:cNvPr>
          <p:cNvSpPr/>
          <p:nvPr/>
        </p:nvSpPr>
        <p:spPr>
          <a:xfrm>
            <a:off x="8294911" y="850690"/>
            <a:ext cx="166407" cy="3718549"/>
          </a:xfrm>
          <a:prstGeom prst="rect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diagonale 8">
            <a:extLst>
              <a:ext uri="{FF2B5EF4-FFF2-40B4-BE49-F238E27FC236}">
                <a16:creationId xmlns:a16="http://schemas.microsoft.com/office/drawing/2014/main" id="{A369720D-046C-B9AE-3E59-D98F06B8A0EB}"/>
              </a:ext>
            </a:extLst>
          </p:cNvPr>
          <p:cNvSpPr/>
          <p:nvPr/>
        </p:nvSpPr>
        <p:spPr>
          <a:xfrm>
            <a:off x="81423" y="534730"/>
            <a:ext cx="8213487" cy="4495608"/>
          </a:xfrm>
          <a:prstGeom prst="round2Diag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4761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6">
          <a:extLst>
            <a:ext uri="{FF2B5EF4-FFF2-40B4-BE49-F238E27FC236}">
              <a16:creationId xmlns:a16="http://schemas.microsoft.com/office/drawing/2014/main" id="{C0CD560F-23BD-F994-1746-CB4DBCEEF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FB5EE87A-2DA4-8A5A-C04D-EF67BE52CABC}"/>
              </a:ext>
            </a:extLst>
          </p:cNvPr>
          <p:cNvSpPr/>
          <p:nvPr/>
        </p:nvSpPr>
        <p:spPr>
          <a:xfrm>
            <a:off x="7509152" y="-1087590"/>
            <a:ext cx="2549131" cy="2661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1E0F2C-F59C-F93F-E881-699C0775FD9E}"/>
              </a:ext>
            </a:extLst>
          </p:cNvPr>
          <p:cNvSpPr/>
          <p:nvPr/>
        </p:nvSpPr>
        <p:spPr>
          <a:xfrm>
            <a:off x="8357795" y="-250950"/>
            <a:ext cx="861777" cy="5805076"/>
          </a:xfrm>
          <a:prstGeom prst="rect">
            <a:avLst/>
          </a:prstGeom>
          <a:solidFill>
            <a:srgbClr val="0716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7163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D10F8F-3CAF-58D6-5F29-BCD07F0F336C}"/>
              </a:ext>
            </a:extLst>
          </p:cNvPr>
          <p:cNvSpPr/>
          <p:nvPr/>
        </p:nvSpPr>
        <p:spPr>
          <a:xfrm>
            <a:off x="-45643" y="-198687"/>
            <a:ext cx="793269" cy="53421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</a:endParaRPr>
          </a:p>
        </p:txBody>
      </p:sp>
      <p:sp>
        <p:nvSpPr>
          <p:cNvPr id="2342" name="Google Shape;2342;p42">
            <a:extLst>
              <a:ext uri="{FF2B5EF4-FFF2-40B4-BE49-F238E27FC236}">
                <a16:creationId xmlns:a16="http://schemas.microsoft.com/office/drawing/2014/main" id="{5FDB009A-43C3-A036-4B6E-CFCC55A5DB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EFC9AFDA-4FEC-5B7D-3F10-CF07A2C4D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38" y="294235"/>
            <a:ext cx="4019932" cy="487026"/>
          </a:xfrm>
        </p:spPr>
        <p:txBody>
          <a:bodyPr/>
          <a:lstStyle/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fr-FR" sz="105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ANALYSE DES VENTES &amp;</a:t>
            </a:r>
            <a:br>
              <a:rPr lang="fr-FR" sz="105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fr-FR" sz="105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PERFORMANCES COMMERCIALES</a:t>
            </a:r>
            <a:endParaRPr lang="fr-FR" sz="900" b="1" dirty="0">
              <a:effectLst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A2DA56F8-5A97-8EEE-02BC-385D5E8D064E}"/>
              </a:ext>
            </a:extLst>
          </p:cNvPr>
          <p:cNvSpPr/>
          <p:nvPr/>
        </p:nvSpPr>
        <p:spPr>
          <a:xfrm>
            <a:off x="8740592" y="4692191"/>
            <a:ext cx="103020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D80CF79A-D60C-CE0B-1CFE-2C09018D35A5}"/>
              </a:ext>
            </a:extLst>
          </p:cNvPr>
          <p:cNvSpPr/>
          <p:nvPr/>
        </p:nvSpPr>
        <p:spPr>
          <a:xfrm>
            <a:off x="8730083" y="4216602"/>
            <a:ext cx="107267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itre 5">
            <a:extLst>
              <a:ext uri="{FF2B5EF4-FFF2-40B4-BE49-F238E27FC236}">
                <a16:creationId xmlns:a16="http://schemas.microsoft.com/office/drawing/2014/main" id="{15794543-2DA9-14D9-1FB2-A5F131384CBA}"/>
              </a:ext>
            </a:extLst>
          </p:cNvPr>
          <p:cNvSpPr txBox="1">
            <a:spLocks/>
          </p:cNvSpPr>
          <p:nvPr/>
        </p:nvSpPr>
        <p:spPr>
          <a:xfrm>
            <a:off x="1003330" y="-40587"/>
            <a:ext cx="2116393" cy="48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2400" b="1" i="0" u="none" strike="noStrike" dirty="0">
                <a:solidFill>
                  <a:srgbClr val="C69206"/>
                </a:solidFill>
                <a:effectLst/>
                <a:latin typeface="Arial" panose="020B0604020202020204" pitchFamily="34" charset="0"/>
              </a:rPr>
              <a:t>Visualisation</a:t>
            </a:r>
            <a:endParaRPr lang="fr-FR" sz="8800" b="1" dirty="0">
              <a:solidFill>
                <a:srgbClr val="C69206"/>
              </a:solidFill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7A52D398-4898-F0C3-8711-3ADF76287310}"/>
              </a:ext>
            </a:extLst>
          </p:cNvPr>
          <p:cNvSpPr/>
          <p:nvPr/>
        </p:nvSpPr>
        <p:spPr>
          <a:xfrm>
            <a:off x="8734739" y="4462900"/>
            <a:ext cx="107267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2F3D64-B3C0-83CC-1F8E-0D7575418EF2}"/>
              </a:ext>
            </a:extLst>
          </p:cNvPr>
          <p:cNvSpPr/>
          <p:nvPr/>
        </p:nvSpPr>
        <p:spPr>
          <a:xfrm>
            <a:off x="-142520" y="855340"/>
            <a:ext cx="223943" cy="3718549"/>
          </a:xfrm>
          <a:prstGeom prst="rect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9F39C2-CB9E-78A6-CE77-AF3760234538}"/>
              </a:ext>
            </a:extLst>
          </p:cNvPr>
          <p:cNvSpPr/>
          <p:nvPr/>
        </p:nvSpPr>
        <p:spPr>
          <a:xfrm>
            <a:off x="1136861" y="391623"/>
            <a:ext cx="1819355" cy="45719"/>
          </a:xfrm>
          <a:prstGeom prst="rect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Larme 16">
            <a:extLst>
              <a:ext uri="{FF2B5EF4-FFF2-40B4-BE49-F238E27FC236}">
                <a16:creationId xmlns:a16="http://schemas.microsoft.com/office/drawing/2014/main" id="{55D672C6-14AD-7BF9-971C-C577F76E9068}"/>
              </a:ext>
            </a:extLst>
          </p:cNvPr>
          <p:cNvSpPr/>
          <p:nvPr/>
        </p:nvSpPr>
        <p:spPr>
          <a:xfrm flipV="1">
            <a:off x="811807" y="161837"/>
            <a:ext cx="189621" cy="200410"/>
          </a:xfrm>
          <a:prstGeom prst="teardrop">
            <a:avLst/>
          </a:prstGeom>
          <a:noFill/>
          <a:ln>
            <a:solidFill>
              <a:srgbClr val="C69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373259-D176-CABB-D368-A0400D94C7CC}"/>
              </a:ext>
            </a:extLst>
          </p:cNvPr>
          <p:cNvSpPr/>
          <p:nvPr/>
        </p:nvSpPr>
        <p:spPr>
          <a:xfrm>
            <a:off x="8294911" y="850690"/>
            <a:ext cx="166407" cy="3718549"/>
          </a:xfrm>
          <a:prstGeom prst="rect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40DB17-12E8-0E8A-5FC7-8CC82CF18919}"/>
              </a:ext>
            </a:extLst>
          </p:cNvPr>
          <p:cNvSpPr/>
          <p:nvPr/>
        </p:nvSpPr>
        <p:spPr>
          <a:xfrm>
            <a:off x="81423" y="534730"/>
            <a:ext cx="8213488" cy="455498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8320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6">
          <a:extLst>
            <a:ext uri="{FF2B5EF4-FFF2-40B4-BE49-F238E27FC236}">
              <a16:creationId xmlns:a16="http://schemas.microsoft.com/office/drawing/2014/main" id="{BBAF6ABE-DBFE-A79E-2CF3-E4BF911FA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E3B52EA5-7578-EE12-8E18-E1502766DF6A}"/>
              </a:ext>
            </a:extLst>
          </p:cNvPr>
          <p:cNvSpPr/>
          <p:nvPr/>
        </p:nvSpPr>
        <p:spPr>
          <a:xfrm>
            <a:off x="7509152" y="-1087590"/>
            <a:ext cx="2549131" cy="2661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B01E3-6F52-A715-718B-6C446D83A274}"/>
              </a:ext>
            </a:extLst>
          </p:cNvPr>
          <p:cNvSpPr/>
          <p:nvPr/>
        </p:nvSpPr>
        <p:spPr>
          <a:xfrm>
            <a:off x="8637644" y="-257673"/>
            <a:ext cx="635858" cy="5805076"/>
          </a:xfrm>
          <a:prstGeom prst="rect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7163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6C5C42-8B23-3BDA-DC13-7F05DB102F8C}"/>
              </a:ext>
            </a:extLst>
          </p:cNvPr>
          <p:cNvSpPr/>
          <p:nvPr/>
        </p:nvSpPr>
        <p:spPr>
          <a:xfrm>
            <a:off x="-45643" y="-198687"/>
            <a:ext cx="793269" cy="53421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</a:endParaRPr>
          </a:p>
        </p:txBody>
      </p:sp>
      <p:sp>
        <p:nvSpPr>
          <p:cNvPr id="2332" name="Google Shape;2332;p42">
            <a:extLst>
              <a:ext uri="{FF2B5EF4-FFF2-40B4-BE49-F238E27FC236}">
                <a16:creationId xmlns:a16="http://schemas.microsoft.com/office/drawing/2014/main" id="{5BBD75FD-FE15-009D-42EB-79232430D6C7}"/>
              </a:ext>
            </a:extLst>
          </p:cNvPr>
          <p:cNvSpPr txBox="1"/>
          <p:nvPr/>
        </p:nvSpPr>
        <p:spPr>
          <a:xfrm>
            <a:off x="4786604" y="3580417"/>
            <a:ext cx="10213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23 Jours</a:t>
            </a:r>
            <a:endParaRPr/>
          </a:p>
        </p:txBody>
      </p:sp>
      <p:sp>
        <p:nvSpPr>
          <p:cNvPr id="2333" name="Google Shape;2333;p42">
            <a:extLst>
              <a:ext uri="{FF2B5EF4-FFF2-40B4-BE49-F238E27FC236}">
                <a16:creationId xmlns:a16="http://schemas.microsoft.com/office/drawing/2014/main" id="{9F071FBC-EC51-6846-4FEE-9F6429D01525}"/>
              </a:ext>
            </a:extLst>
          </p:cNvPr>
          <p:cNvSpPr txBox="1"/>
          <p:nvPr/>
        </p:nvSpPr>
        <p:spPr>
          <a:xfrm>
            <a:off x="4077615" y="4131273"/>
            <a:ext cx="10213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97 Jours</a:t>
            </a:r>
            <a:endParaRPr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9EC856C7-89B6-C086-9A2A-BF45DC1EB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3" y="45718"/>
            <a:ext cx="4922886" cy="894961"/>
          </a:xfrm>
        </p:spPr>
        <p:txBody>
          <a:bodyPr/>
          <a:lstStyle/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ANALYSE DU COMPORTEMENT </a:t>
            </a:r>
            <a:b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CLIENT &amp; GÉOGRAPHIQUE</a:t>
            </a:r>
            <a:endParaRPr lang="fr-FR" sz="1600" b="1" dirty="0">
              <a:effectLst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B474E58E-26B7-B879-9AF2-2ED1367C8B6E}"/>
              </a:ext>
            </a:extLst>
          </p:cNvPr>
          <p:cNvSpPr/>
          <p:nvPr/>
        </p:nvSpPr>
        <p:spPr>
          <a:xfrm>
            <a:off x="8740592" y="4692191"/>
            <a:ext cx="103020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37119FC-620A-4CB3-4814-332E98BD47F2}"/>
              </a:ext>
            </a:extLst>
          </p:cNvPr>
          <p:cNvSpPr/>
          <p:nvPr/>
        </p:nvSpPr>
        <p:spPr>
          <a:xfrm>
            <a:off x="8730083" y="4216602"/>
            <a:ext cx="107267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itre 5">
            <a:extLst>
              <a:ext uri="{FF2B5EF4-FFF2-40B4-BE49-F238E27FC236}">
                <a16:creationId xmlns:a16="http://schemas.microsoft.com/office/drawing/2014/main" id="{571EC6C0-2F96-016F-DF25-6AFCBEE54543}"/>
              </a:ext>
            </a:extLst>
          </p:cNvPr>
          <p:cNvSpPr txBox="1">
            <a:spLocks/>
          </p:cNvSpPr>
          <p:nvPr/>
        </p:nvSpPr>
        <p:spPr>
          <a:xfrm>
            <a:off x="1095577" y="1188157"/>
            <a:ext cx="1992393" cy="40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1800" b="1" i="0" u="none" strike="noStrike" dirty="0">
                <a:solidFill>
                  <a:srgbClr val="C69206"/>
                </a:solidFill>
                <a:effectLst/>
                <a:latin typeface="Arial" panose="020B0604020202020204" pitchFamily="34" charset="0"/>
              </a:rPr>
              <a:t>Indicateurs clés </a:t>
            </a:r>
            <a:endParaRPr lang="fr-FR" sz="7200" b="1" dirty="0">
              <a:solidFill>
                <a:srgbClr val="C69206"/>
              </a:solidFill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81EEF8DF-4A34-81B3-AF43-79ABD2B6BF52}"/>
              </a:ext>
            </a:extLst>
          </p:cNvPr>
          <p:cNvSpPr/>
          <p:nvPr/>
        </p:nvSpPr>
        <p:spPr>
          <a:xfrm>
            <a:off x="8734739" y="4462900"/>
            <a:ext cx="107267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itre 5">
            <a:extLst>
              <a:ext uri="{FF2B5EF4-FFF2-40B4-BE49-F238E27FC236}">
                <a16:creationId xmlns:a16="http://schemas.microsoft.com/office/drawing/2014/main" id="{71C95F49-C0E8-6B42-D456-212D2216521A}"/>
              </a:ext>
            </a:extLst>
          </p:cNvPr>
          <p:cNvSpPr txBox="1">
            <a:spLocks/>
          </p:cNvSpPr>
          <p:nvPr/>
        </p:nvSpPr>
        <p:spPr>
          <a:xfrm>
            <a:off x="1032677" y="3797499"/>
            <a:ext cx="3082259" cy="45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1600" b="0" i="0" u="none" strike="noStrike" dirty="0">
                <a:solidFill>
                  <a:srgbClr val="C6920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fr-FR" sz="1600" b="1" i="0" u="none" strike="noStrike" dirty="0">
                <a:solidFill>
                  <a:srgbClr val="C69206"/>
                </a:solidFill>
                <a:effectLst/>
                <a:latin typeface="Arial" panose="020B0604020202020204" pitchFamily="34" charset="0"/>
              </a:rPr>
              <a:t>Interprétation des tendances</a:t>
            </a:r>
            <a:endParaRPr lang="fr-FR" sz="6000" b="1" dirty="0">
              <a:solidFill>
                <a:srgbClr val="C69206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FF81A599-C5BB-97C5-049E-FEA930D055FC}"/>
              </a:ext>
            </a:extLst>
          </p:cNvPr>
          <p:cNvSpPr txBox="1"/>
          <p:nvPr/>
        </p:nvSpPr>
        <p:spPr>
          <a:xfrm>
            <a:off x="275081" y="1716047"/>
            <a:ext cx="27288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fontAlgn="base">
              <a:spcAft>
                <a:spcPts val="300"/>
              </a:spcAft>
            </a:pPr>
            <a:r>
              <a:rPr lang="fr-F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Nombre de clients actifs :</a:t>
            </a:r>
            <a:endParaRPr lang="fr-FR" sz="105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F67B955A-9076-1D6B-8A80-03D4B56563C9}"/>
              </a:ext>
            </a:extLst>
          </p:cNvPr>
          <p:cNvSpPr txBox="1"/>
          <p:nvPr/>
        </p:nvSpPr>
        <p:spPr>
          <a:xfrm>
            <a:off x="350991" y="4191959"/>
            <a:ext cx="6968239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1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Forte progression des ventes dans les </a:t>
            </a:r>
            <a:r>
              <a:rPr lang="fr-FR" sz="13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régions Ouest et Est</a:t>
            </a:r>
            <a:r>
              <a:rPr lang="fr-FR" sz="1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rtl="0" fontAlgn="base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Les </a:t>
            </a:r>
            <a:r>
              <a:rPr lang="fr-FR" sz="13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clients Dans la région Ouest et Est</a:t>
            </a:r>
            <a:r>
              <a:rPr lang="fr-FR" sz="1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représentent </a:t>
            </a:r>
            <a:r>
              <a:rPr lang="fr-FR" sz="13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60%</a:t>
            </a:r>
            <a:r>
              <a:rPr lang="fr-FR" sz="1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du chiffre d’affaires.</a:t>
            </a:r>
          </a:p>
          <a:p>
            <a:pPr rtl="0" fontAlgn="base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Opportunité d'expansion en </a:t>
            </a:r>
            <a:r>
              <a:rPr lang="fr-FR" sz="13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région Centre</a:t>
            </a:r>
            <a:r>
              <a:rPr lang="fr-FR" sz="1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3EB1BA-C24C-E9A5-F3F8-62390374F022}"/>
              </a:ext>
            </a:extLst>
          </p:cNvPr>
          <p:cNvSpPr/>
          <p:nvPr/>
        </p:nvSpPr>
        <p:spPr>
          <a:xfrm>
            <a:off x="-142520" y="693968"/>
            <a:ext cx="223943" cy="3718549"/>
          </a:xfrm>
          <a:prstGeom prst="rect">
            <a:avLst/>
          </a:prstGeom>
          <a:solidFill>
            <a:srgbClr val="0716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73E60F-DB68-6F91-95FC-F06A6BA83693}"/>
              </a:ext>
            </a:extLst>
          </p:cNvPr>
          <p:cNvSpPr/>
          <p:nvPr/>
        </p:nvSpPr>
        <p:spPr>
          <a:xfrm>
            <a:off x="538115" y="980145"/>
            <a:ext cx="3576821" cy="45719"/>
          </a:xfrm>
          <a:prstGeom prst="rect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Larme 16">
            <a:extLst>
              <a:ext uri="{FF2B5EF4-FFF2-40B4-BE49-F238E27FC236}">
                <a16:creationId xmlns:a16="http://schemas.microsoft.com/office/drawing/2014/main" id="{0570550C-FEA7-B10C-1097-1622BB44772D}"/>
              </a:ext>
            </a:extLst>
          </p:cNvPr>
          <p:cNvSpPr/>
          <p:nvPr/>
        </p:nvSpPr>
        <p:spPr>
          <a:xfrm>
            <a:off x="999171" y="1359499"/>
            <a:ext cx="125847" cy="119850"/>
          </a:xfrm>
          <a:prstGeom prst="teardrop">
            <a:avLst/>
          </a:prstGeom>
          <a:noFill/>
          <a:ln>
            <a:solidFill>
              <a:srgbClr val="C69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00D1FEA0-0558-E1D3-3332-A582B1E8FADE}"/>
              </a:ext>
            </a:extLst>
          </p:cNvPr>
          <p:cNvSpPr/>
          <p:nvPr/>
        </p:nvSpPr>
        <p:spPr>
          <a:xfrm>
            <a:off x="2888457" y="1732589"/>
            <a:ext cx="731677" cy="307777"/>
          </a:xfrm>
          <a:prstGeom prst="roundRect">
            <a:avLst/>
          </a:prstGeom>
          <a:solidFill>
            <a:srgbClr val="CBC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30281A"/>
              </a:solidFill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C568BB3-A884-40AE-8928-ED9A2B2064D5}"/>
              </a:ext>
            </a:extLst>
          </p:cNvPr>
          <p:cNvSpPr txBox="1"/>
          <p:nvPr/>
        </p:nvSpPr>
        <p:spPr>
          <a:xfrm>
            <a:off x="275081" y="2629769"/>
            <a:ext cx="37116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fontAlgn="base">
              <a:spcAft>
                <a:spcPts val="300"/>
              </a:spcAft>
            </a:pPr>
            <a:r>
              <a:rPr lang="fr-F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Répartition des clients par segment:</a:t>
            </a:r>
            <a:endParaRPr lang="fr-FR" sz="9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989C5E88-F320-1F54-916F-8CBED2BD98DB}"/>
              </a:ext>
            </a:extLst>
          </p:cNvPr>
          <p:cNvSpPr/>
          <p:nvPr/>
        </p:nvSpPr>
        <p:spPr>
          <a:xfrm>
            <a:off x="384125" y="3210719"/>
            <a:ext cx="1335546" cy="338572"/>
          </a:xfrm>
          <a:prstGeom prst="roundRect">
            <a:avLst/>
          </a:prstGeom>
          <a:solidFill>
            <a:srgbClr val="CBC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71637"/>
              </a:solidFill>
            </a:endParaRPr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1871D574-41DE-0AC1-FABF-DB53203EECB1}"/>
              </a:ext>
            </a:extLst>
          </p:cNvPr>
          <p:cNvSpPr/>
          <p:nvPr/>
        </p:nvSpPr>
        <p:spPr>
          <a:xfrm>
            <a:off x="1896250" y="3206803"/>
            <a:ext cx="1298556" cy="327658"/>
          </a:xfrm>
          <a:prstGeom prst="roundRect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71637"/>
              </a:solidFill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1FD83823-CA99-B2DF-90FA-E06A2792C347}"/>
              </a:ext>
            </a:extLst>
          </p:cNvPr>
          <p:cNvSpPr txBox="1"/>
          <p:nvPr/>
        </p:nvSpPr>
        <p:spPr>
          <a:xfrm>
            <a:off x="258575" y="2191533"/>
            <a:ext cx="32973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fontAlgn="base">
              <a:spcAft>
                <a:spcPts val="300"/>
              </a:spcAft>
            </a:pPr>
            <a:r>
              <a:rPr lang="fr-F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Carte des ventes par région</a:t>
            </a:r>
            <a:endParaRPr lang="fr-FR" sz="7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Larme 44">
            <a:extLst>
              <a:ext uri="{FF2B5EF4-FFF2-40B4-BE49-F238E27FC236}">
                <a16:creationId xmlns:a16="http://schemas.microsoft.com/office/drawing/2014/main" id="{81A42F31-60D3-7BC7-5B82-9D3F36C92731}"/>
              </a:ext>
            </a:extLst>
          </p:cNvPr>
          <p:cNvSpPr/>
          <p:nvPr/>
        </p:nvSpPr>
        <p:spPr>
          <a:xfrm>
            <a:off x="992980" y="3955343"/>
            <a:ext cx="125847" cy="119850"/>
          </a:xfrm>
          <a:prstGeom prst="teardrop">
            <a:avLst/>
          </a:prstGeom>
          <a:noFill/>
          <a:ln>
            <a:solidFill>
              <a:srgbClr val="C69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46" name="Titre 5">
            <a:extLst>
              <a:ext uri="{FF2B5EF4-FFF2-40B4-BE49-F238E27FC236}">
                <a16:creationId xmlns:a16="http://schemas.microsoft.com/office/drawing/2014/main" id="{ED34DC59-CB05-CDAB-77B6-4896C09F9E3E}"/>
              </a:ext>
            </a:extLst>
          </p:cNvPr>
          <p:cNvSpPr txBox="1">
            <a:spLocks/>
          </p:cNvSpPr>
          <p:nvPr/>
        </p:nvSpPr>
        <p:spPr>
          <a:xfrm>
            <a:off x="2590637" y="1653766"/>
            <a:ext cx="1327315" cy="45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2000" b="1" dirty="0">
                <a:solidFill>
                  <a:srgbClr val="071637"/>
                </a:solidFill>
                <a:latin typeface="Arial" panose="020B0604020202020204" pitchFamily="34" charset="0"/>
              </a:rPr>
              <a:t>793</a:t>
            </a:r>
            <a:endParaRPr lang="fr-FR" sz="7200" b="1" dirty="0">
              <a:solidFill>
                <a:srgbClr val="071637"/>
              </a:solidFill>
            </a:endParaRP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7ECBC4CD-3F73-224C-58FD-5B2F710001AE}"/>
              </a:ext>
            </a:extLst>
          </p:cNvPr>
          <p:cNvSpPr/>
          <p:nvPr/>
        </p:nvSpPr>
        <p:spPr>
          <a:xfrm>
            <a:off x="3345748" y="3203361"/>
            <a:ext cx="1330247" cy="350498"/>
          </a:xfrm>
          <a:prstGeom prst="roundRect">
            <a:avLst/>
          </a:prstGeom>
          <a:solidFill>
            <a:srgbClr val="0716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71637"/>
              </a:solidFill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1C43D75C-1E57-CD14-ED0B-41913205CF1D}"/>
              </a:ext>
            </a:extLst>
          </p:cNvPr>
          <p:cNvSpPr/>
          <p:nvPr/>
        </p:nvSpPr>
        <p:spPr>
          <a:xfrm>
            <a:off x="4857665" y="1090232"/>
            <a:ext cx="3480406" cy="2865111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4645" t="-23999" r="-46541" b="-1651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B36CF901-11DB-82E6-A0EC-163DCC92A96F}"/>
              </a:ext>
            </a:extLst>
          </p:cNvPr>
          <p:cNvSpPr/>
          <p:nvPr/>
        </p:nvSpPr>
        <p:spPr>
          <a:xfrm>
            <a:off x="3133680" y="2216717"/>
            <a:ext cx="1583303" cy="307777"/>
          </a:xfrm>
          <a:prstGeom prst="roundRect">
            <a:avLst/>
          </a:prstGeom>
          <a:solidFill>
            <a:srgbClr val="CBC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30281A"/>
              </a:solidFill>
            </a:endParaRPr>
          </a:p>
        </p:txBody>
      </p:sp>
      <p:sp>
        <p:nvSpPr>
          <p:cNvPr id="10" name="Titre 5">
            <a:extLst>
              <a:ext uri="{FF2B5EF4-FFF2-40B4-BE49-F238E27FC236}">
                <a16:creationId xmlns:a16="http://schemas.microsoft.com/office/drawing/2014/main" id="{FB83CC52-6B22-53CD-CC71-3DB39C1C241B}"/>
              </a:ext>
            </a:extLst>
          </p:cNvPr>
          <p:cNvSpPr txBox="1">
            <a:spLocks/>
          </p:cNvSpPr>
          <p:nvPr/>
        </p:nvSpPr>
        <p:spPr>
          <a:xfrm>
            <a:off x="2869706" y="2161449"/>
            <a:ext cx="2013971" cy="45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1800" b="1" dirty="0">
                <a:solidFill>
                  <a:srgbClr val="071637"/>
                </a:solidFill>
                <a:latin typeface="Arial" panose="020B0604020202020204" pitchFamily="34" charset="0"/>
              </a:rPr>
              <a:t>visualisation</a:t>
            </a:r>
            <a:endParaRPr lang="fr-FR" sz="6600" b="1" dirty="0">
              <a:solidFill>
                <a:srgbClr val="071637"/>
              </a:solidFill>
            </a:endParaRPr>
          </a:p>
        </p:txBody>
      </p:sp>
      <p:sp>
        <p:nvSpPr>
          <p:cNvPr id="11" name="Titre 5">
            <a:extLst>
              <a:ext uri="{FF2B5EF4-FFF2-40B4-BE49-F238E27FC236}">
                <a16:creationId xmlns:a16="http://schemas.microsoft.com/office/drawing/2014/main" id="{DC5209BD-DC8F-8E93-228F-339F1E290645}"/>
              </a:ext>
            </a:extLst>
          </p:cNvPr>
          <p:cNvSpPr txBox="1">
            <a:spLocks/>
          </p:cNvSpPr>
          <p:nvPr/>
        </p:nvSpPr>
        <p:spPr>
          <a:xfrm>
            <a:off x="191359" y="3185949"/>
            <a:ext cx="1740619" cy="40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1200" b="1" dirty="0">
                <a:solidFill>
                  <a:srgbClr val="071637"/>
                </a:solidFill>
                <a:latin typeface="Arial" panose="020B0604020202020204" pitchFamily="34" charset="0"/>
              </a:rPr>
              <a:t>Consommateur</a:t>
            </a:r>
            <a:endParaRPr lang="fr-FR" sz="4800" b="1" dirty="0">
              <a:solidFill>
                <a:srgbClr val="071637"/>
              </a:solidFill>
            </a:endParaRPr>
          </a:p>
        </p:txBody>
      </p:sp>
      <p:sp>
        <p:nvSpPr>
          <p:cNvPr id="12" name="Titre 5">
            <a:extLst>
              <a:ext uri="{FF2B5EF4-FFF2-40B4-BE49-F238E27FC236}">
                <a16:creationId xmlns:a16="http://schemas.microsoft.com/office/drawing/2014/main" id="{2AE415C0-15BC-7970-A6CC-DB45965CC23F}"/>
              </a:ext>
            </a:extLst>
          </p:cNvPr>
          <p:cNvSpPr txBox="1">
            <a:spLocks/>
          </p:cNvSpPr>
          <p:nvPr/>
        </p:nvSpPr>
        <p:spPr>
          <a:xfrm>
            <a:off x="1635857" y="3161877"/>
            <a:ext cx="1740619" cy="40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1400" b="1" dirty="0">
                <a:solidFill>
                  <a:srgbClr val="FFFFFF"/>
                </a:solidFill>
                <a:latin typeface="Arial" panose="020B0604020202020204" pitchFamily="34" charset="0"/>
              </a:rPr>
              <a:t>Entreprise</a:t>
            </a:r>
            <a:endParaRPr lang="fr-FR" sz="5400" b="1" dirty="0">
              <a:solidFill>
                <a:srgbClr val="FFFFFF"/>
              </a:solidFill>
            </a:endParaRPr>
          </a:p>
        </p:txBody>
      </p:sp>
      <p:sp>
        <p:nvSpPr>
          <p:cNvPr id="16" name="Titre 5">
            <a:extLst>
              <a:ext uri="{FF2B5EF4-FFF2-40B4-BE49-F238E27FC236}">
                <a16:creationId xmlns:a16="http://schemas.microsoft.com/office/drawing/2014/main" id="{78B8D881-C0AF-7FBB-0D70-6F978C2FB82C}"/>
              </a:ext>
            </a:extLst>
          </p:cNvPr>
          <p:cNvSpPr txBox="1">
            <a:spLocks/>
          </p:cNvSpPr>
          <p:nvPr/>
        </p:nvSpPr>
        <p:spPr>
          <a:xfrm>
            <a:off x="3155926" y="3210841"/>
            <a:ext cx="1740619" cy="40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1200" b="1" dirty="0">
                <a:solidFill>
                  <a:srgbClr val="FFFFFF"/>
                </a:solidFill>
                <a:latin typeface="Arial" panose="020B0604020202020204" pitchFamily="34" charset="0"/>
              </a:rPr>
              <a:t>Bureau Domicile</a:t>
            </a:r>
            <a:endParaRPr lang="fr-FR" sz="4800" b="1" dirty="0">
              <a:solidFill>
                <a:srgbClr val="FFFFFF"/>
              </a:solidFill>
            </a:endParaRPr>
          </a:p>
        </p:txBody>
      </p:sp>
      <p:sp>
        <p:nvSpPr>
          <p:cNvPr id="23" name="Titre 5">
            <a:extLst>
              <a:ext uri="{FF2B5EF4-FFF2-40B4-BE49-F238E27FC236}">
                <a16:creationId xmlns:a16="http://schemas.microsoft.com/office/drawing/2014/main" id="{63950204-17EB-3C4A-B59A-9C3D614D49DD}"/>
              </a:ext>
            </a:extLst>
          </p:cNvPr>
          <p:cNvSpPr txBox="1">
            <a:spLocks/>
          </p:cNvSpPr>
          <p:nvPr/>
        </p:nvSpPr>
        <p:spPr>
          <a:xfrm>
            <a:off x="5085184" y="1401398"/>
            <a:ext cx="1740619" cy="40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2000" b="1" dirty="0">
                <a:solidFill>
                  <a:srgbClr val="FFFFFF"/>
                </a:solidFill>
                <a:latin typeface="Arial" panose="020B0604020202020204" pitchFamily="34" charset="0"/>
              </a:rPr>
              <a:t>148</a:t>
            </a:r>
            <a:endParaRPr lang="fr-FR" sz="7200" b="1" dirty="0">
              <a:solidFill>
                <a:srgbClr val="FFFFFF"/>
              </a:solidFill>
            </a:endParaRPr>
          </a:p>
        </p:txBody>
      </p:sp>
      <p:sp>
        <p:nvSpPr>
          <p:cNvPr id="25" name="Titre 5">
            <a:extLst>
              <a:ext uri="{FF2B5EF4-FFF2-40B4-BE49-F238E27FC236}">
                <a16:creationId xmlns:a16="http://schemas.microsoft.com/office/drawing/2014/main" id="{B9A14353-D229-8FD0-67C1-9CF823A5F38A}"/>
              </a:ext>
            </a:extLst>
          </p:cNvPr>
          <p:cNvSpPr txBox="1">
            <a:spLocks/>
          </p:cNvSpPr>
          <p:nvPr/>
        </p:nvSpPr>
        <p:spPr>
          <a:xfrm>
            <a:off x="6789280" y="2407593"/>
            <a:ext cx="1439743" cy="40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1800" b="1" dirty="0">
                <a:solidFill>
                  <a:srgbClr val="FFFFFF"/>
                </a:solidFill>
                <a:latin typeface="Arial" panose="020B0604020202020204" pitchFamily="34" charset="0"/>
              </a:rPr>
              <a:t>409</a:t>
            </a:r>
            <a:endParaRPr lang="fr-FR" sz="6600" b="1" dirty="0">
              <a:solidFill>
                <a:srgbClr val="FFFFFF"/>
              </a:solidFill>
            </a:endParaRPr>
          </a:p>
        </p:txBody>
      </p:sp>
      <p:sp>
        <p:nvSpPr>
          <p:cNvPr id="26" name="Titre 5">
            <a:extLst>
              <a:ext uri="{FF2B5EF4-FFF2-40B4-BE49-F238E27FC236}">
                <a16:creationId xmlns:a16="http://schemas.microsoft.com/office/drawing/2014/main" id="{8A8483C1-CA38-3678-3741-56A9B43237EB}"/>
              </a:ext>
            </a:extLst>
          </p:cNvPr>
          <p:cNvSpPr txBox="1">
            <a:spLocks/>
          </p:cNvSpPr>
          <p:nvPr/>
        </p:nvSpPr>
        <p:spPr>
          <a:xfrm>
            <a:off x="4964501" y="2814880"/>
            <a:ext cx="1250501" cy="40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1800" b="1" dirty="0">
                <a:solidFill>
                  <a:srgbClr val="FFFFFF"/>
                </a:solidFill>
                <a:latin typeface="Arial" panose="020B0604020202020204" pitchFamily="34" charset="0"/>
              </a:rPr>
              <a:t>236</a:t>
            </a:r>
            <a:endParaRPr lang="fr-FR" sz="66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282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6">
          <a:extLst>
            <a:ext uri="{FF2B5EF4-FFF2-40B4-BE49-F238E27FC236}">
              <a16:creationId xmlns:a16="http://schemas.microsoft.com/office/drawing/2014/main" id="{FD90F23B-25E1-170E-9620-91FCD65D9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F907E747-DD5E-0893-4BDC-2552982B0D3A}"/>
              </a:ext>
            </a:extLst>
          </p:cNvPr>
          <p:cNvSpPr/>
          <p:nvPr/>
        </p:nvSpPr>
        <p:spPr>
          <a:xfrm>
            <a:off x="7509152" y="-1087590"/>
            <a:ext cx="2549131" cy="2661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1E36BC-83B8-DE03-DF50-1B19D97EE438}"/>
              </a:ext>
            </a:extLst>
          </p:cNvPr>
          <p:cNvSpPr/>
          <p:nvPr/>
        </p:nvSpPr>
        <p:spPr>
          <a:xfrm>
            <a:off x="8590557" y="-250950"/>
            <a:ext cx="629016" cy="5805076"/>
          </a:xfrm>
          <a:prstGeom prst="rect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7163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02FF2A-434B-AD12-0172-FF91BFB1B54F}"/>
              </a:ext>
            </a:extLst>
          </p:cNvPr>
          <p:cNvSpPr/>
          <p:nvPr/>
        </p:nvSpPr>
        <p:spPr>
          <a:xfrm>
            <a:off x="-45643" y="-198687"/>
            <a:ext cx="793269" cy="53421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</a:endParaRP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BBD7C825-A6E7-B35E-898B-0BAFC44D2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38" y="294235"/>
            <a:ext cx="4019932" cy="487026"/>
          </a:xfrm>
        </p:spPr>
        <p:txBody>
          <a:bodyPr/>
          <a:lstStyle/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fr-FR" sz="105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ANALYSE DES VENTES &amp;</a:t>
            </a:r>
            <a:br>
              <a:rPr lang="fr-FR" sz="105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fr-FR" sz="105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PERFORMANCES COMMERCIALES</a:t>
            </a:r>
            <a:endParaRPr lang="fr-FR" sz="900" b="1" dirty="0">
              <a:effectLst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CD1348CD-278B-D62C-E098-AD5BEEB9AE97}"/>
              </a:ext>
            </a:extLst>
          </p:cNvPr>
          <p:cNvSpPr/>
          <p:nvPr/>
        </p:nvSpPr>
        <p:spPr>
          <a:xfrm>
            <a:off x="8740592" y="4692191"/>
            <a:ext cx="103020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D56DC6C-BAC8-A6DB-2980-099947DAB598}"/>
              </a:ext>
            </a:extLst>
          </p:cNvPr>
          <p:cNvSpPr/>
          <p:nvPr/>
        </p:nvSpPr>
        <p:spPr>
          <a:xfrm>
            <a:off x="8730083" y="4216602"/>
            <a:ext cx="107267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itre 5">
            <a:extLst>
              <a:ext uri="{FF2B5EF4-FFF2-40B4-BE49-F238E27FC236}">
                <a16:creationId xmlns:a16="http://schemas.microsoft.com/office/drawing/2014/main" id="{8A06E08F-C223-E145-5732-C03457475AA4}"/>
              </a:ext>
            </a:extLst>
          </p:cNvPr>
          <p:cNvSpPr txBox="1">
            <a:spLocks/>
          </p:cNvSpPr>
          <p:nvPr/>
        </p:nvSpPr>
        <p:spPr>
          <a:xfrm>
            <a:off x="1003330" y="-40587"/>
            <a:ext cx="2116393" cy="48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2400" b="1" i="0" u="none" strike="noStrike" dirty="0">
                <a:solidFill>
                  <a:srgbClr val="C69206"/>
                </a:solidFill>
                <a:effectLst/>
                <a:latin typeface="Arial" panose="020B0604020202020204" pitchFamily="34" charset="0"/>
              </a:rPr>
              <a:t>Visualisation</a:t>
            </a:r>
            <a:endParaRPr lang="fr-FR" sz="8800" b="1" dirty="0">
              <a:solidFill>
                <a:srgbClr val="C69206"/>
              </a:solidFill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50D873F4-B8BB-839B-FDDC-1FD186AB9FB1}"/>
              </a:ext>
            </a:extLst>
          </p:cNvPr>
          <p:cNvSpPr/>
          <p:nvPr/>
        </p:nvSpPr>
        <p:spPr>
          <a:xfrm>
            <a:off x="8734739" y="4462900"/>
            <a:ext cx="107267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DEB63D-437C-BBD5-0D68-9D0D717DF00F}"/>
              </a:ext>
            </a:extLst>
          </p:cNvPr>
          <p:cNvSpPr/>
          <p:nvPr/>
        </p:nvSpPr>
        <p:spPr>
          <a:xfrm>
            <a:off x="-142520" y="855340"/>
            <a:ext cx="258991" cy="3467601"/>
          </a:xfrm>
          <a:prstGeom prst="rect">
            <a:avLst/>
          </a:prstGeom>
          <a:solidFill>
            <a:srgbClr val="0716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88288F-CDD3-EC16-ADB7-913AE0364686}"/>
              </a:ext>
            </a:extLst>
          </p:cNvPr>
          <p:cNvSpPr/>
          <p:nvPr/>
        </p:nvSpPr>
        <p:spPr>
          <a:xfrm>
            <a:off x="1136861" y="391623"/>
            <a:ext cx="1819355" cy="45719"/>
          </a:xfrm>
          <a:prstGeom prst="rect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Larme 16">
            <a:extLst>
              <a:ext uri="{FF2B5EF4-FFF2-40B4-BE49-F238E27FC236}">
                <a16:creationId xmlns:a16="http://schemas.microsoft.com/office/drawing/2014/main" id="{E62145F7-929F-EBB7-D66F-10AC8F6239C7}"/>
              </a:ext>
            </a:extLst>
          </p:cNvPr>
          <p:cNvSpPr/>
          <p:nvPr/>
        </p:nvSpPr>
        <p:spPr>
          <a:xfrm flipV="1">
            <a:off x="811807" y="161837"/>
            <a:ext cx="189621" cy="200410"/>
          </a:xfrm>
          <a:prstGeom prst="teardrop">
            <a:avLst/>
          </a:prstGeom>
          <a:noFill/>
          <a:ln>
            <a:solidFill>
              <a:srgbClr val="C69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C3E9D6-204B-991F-504A-231557329760}"/>
              </a:ext>
            </a:extLst>
          </p:cNvPr>
          <p:cNvSpPr/>
          <p:nvPr/>
        </p:nvSpPr>
        <p:spPr>
          <a:xfrm>
            <a:off x="116471" y="541326"/>
            <a:ext cx="8340554" cy="453493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2184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048CF9-7B5D-C540-366A-3BF1BBA488BA}"/>
              </a:ext>
            </a:extLst>
          </p:cNvPr>
          <p:cNvSpPr/>
          <p:nvPr/>
        </p:nvSpPr>
        <p:spPr>
          <a:xfrm>
            <a:off x="8472589" y="1275734"/>
            <a:ext cx="107268" cy="2751707"/>
          </a:xfrm>
          <a:prstGeom prst="rect">
            <a:avLst/>
          </a:prstGeom>
          <a:solidFill>
            <a:srgbClr val="0716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5926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6">
          <a:extLst>
            <a:ext uri="{FF2B5EF4-FFF2-40B4-BE49-F238E27FC236}">
              <a16:creationId xmlns:a16="http://schemas.microsoft.com/office/drawing/2014/main" id="{3A87DB7C-FC4F-D112-E700-067B14422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42">
            <a:extLst>
              <a:ext uri="{FF2B5EF4-FFF2-40B4-BE49-F238E27FC236}">
                <a16:creationId xmlns:a16="http://schemas.microsoft.com/office/drawing/2014/main" id="{D3D2D2B4-0E9E-A9AB-6A31-1A1CC2CE4F98}"/>
              </a:ext>
            </a:extLst>
          </p:cNvPr>
          <p:cNvSpPr txBox="1"/>
          <p:nvPr/>
        </p:nvSpPr>
        <p:spPr>
          <a:xfrm>
            <a:off x="4786604" y="3580417"/>
            <a:ext cx="10213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0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23 Jours</a:t>
            </a:r>
            <a:endParaRPr dirty="0"/>
          </a:p>
        </p:txBody>
      </p:sp>
      <p:sp>
        <p:nvSpPr>
          <p:cNvPr id="2333" name="Google Shape;2333;p42">
            <a:extLst>
              <a:ext uri="{FF2B5EF4-FFF2-40B4-BE49-F238E27FC236}">
                <a16:creationId xmlns:a16="http://schemas.microsoft.com/office/drawing/2014/main" id="{AFB6596E-7D7D-B1B0-661E-FCA983265839}"/>
              </a:ext>
            </a:extLst>
          </p:cNvPr>
          <p:cNvSpPr txBox="1"/>
          <p:nvPr/>
        </p:nvSpPr>
        <p:spPr>
          <a:xfrm>
            <a:off x="4077615" y="4131273"/>
            <a:ext cx="10213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97 Jours</a:t>
            </a:r>
            <a:endParaRPr/>
          </a:p>
        </p:txBody>
      </p:sp>
      <p:sp>
        <p:nvSpPr>
          <p:cNvPr id="2342" name="Google Shape;2342;p42">
            <a:extLst>
              <a:ext uri="{FF2B5EF4-FFF2-40B4-BE49-F238E27FC236}">
                <a16:creationId xmlns:a16="http://schemas.microsoft.com/office/drawing/2014/main" id="{F5EB094B-F8AA-1BBD-301B-3290B124FE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CE3C93C-2A0D-805E-A370-E33151018C9A}"/>
              </a:ext>
            </a:extLst>
          </p:cNvPr>
          <p:cNvSpPr/>
          <p:nvPr/>
        </p:nvSpPr>
        <p:spPr>
          <a:xfrm>
            <a:off x="7770409" y="142243"/>
            <a:ext cx="177308" cy="174015"/>
          </a:xfrm>
          <a:prstGeom prst="ellipse">
            <a:avLst/>
          </a:prstGeom>
          <a:solidFill>
            <a:srgbClr val="1C9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74D6EC-CF78-EB4D-33E8-10197CB711FC}"/>
              </a:ext>
            </a:extLst>
          </p:cNvPr>
          <p:cNvSpPr/>
          <p:nvPr/>
        </p:nvSpPr>
        <p:spPr>
          <a:xfrm>
            <a:off x="-53135" y="-61472"/>
            <a:ext cx="764890" cy="5266443"/>
          </a:xfrm>
          <a:prstGeom prst="rect">
            <a:avLst/>
          </a:prstGeom>
          <a:solidFill>
            <a:srgbClr val="0716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71637"/>
              </a:solidFill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CCFDF918-E786-6A7A-AF29-C1D6582C3D18}"/>
              </a:ext>
            </a:extLst>
          </p:cNvPr>
          <p:cNvSpPr/>
          <p:nvPr/>
        </p:nvSpPr>
        <p:spPr>
          <a:xfrm>
            <a:off x="206363" y="4953799"/>
            <a:ext cx="103020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88C312E-9D05-0EAE-E4D4-58B73061C71B}"/>
              </a:ext>
            </a:extLst>
          </p:cNvPr>
          <p:cNvSpPr/>
          <p:nvPr/>
        </p:nvSpPr>
        <p:spPr>
          <a:xfrm>
            <a:off x="206363" y="4702627"/>
            <a:ext cx="103020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itre 5">
            <a:extLst>
              <a:ext uri="{FF2B5EF4-FFF2-40B4-BE49-F238E27FC236}">
                <a16:creationId xmlns:a16="http://schemas.microsoft.com/office/drawing/2014/main" id="{504B36F3-1F2B-4050-7476-1473D0E37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952" y="-42748"/>
            <a:ext cx="4035986" cy="894961"/>
          </a:xfrm>
        </p:spPr>
        <p:txBody>
          <a:bodyPr/>
          <a:lstStyle/>
          <a:p>
            <a:pPr>
              <a:spcBef>
                <a:spcPts val="1800"/>
              </a:spcBef>
              <a:spcAft>
                <a:spcPts val="400"/>
              </a:spcAft>
            </a:pPr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ANALYSE DE LA RENTABILITÉ</a:t>
            </a:r>
            <a:b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&amp; DES MARGES</a:t>
            </a:r>
            <a:endParaRPr lang="fr-FR" sz="1600" b="1" dirty="0">
              <a:effectLst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8AEB96-C3C5-5080-AAA6-6222C865C696}"/>
              </a:ext>
            </a:extLst>
          </p:cNvPr>
          <p:cNvSpPr/>
          <p:nvPr/>
        </p:nvSpPr>
        <p:spPr>
          <a:xfrm>
            <a:off x="1125078" y="852213"/>
            <a:ext cx="3253889" cy="59185"/>
          </a:xfrm>
          <a:prstGeom prst="rect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itre 5">
            <a:extLst>
              <a:ext uri="{FF2B5EF4-FFF2-40B4-BE49-F238E27FC236}">
                <a16:creationId xmlns:a16="http://schemas.microsoft.com/office/drawing/2014/main" id="{03DE8312-792B-D7C6-F904-A419CDB95440}"/>
              </a:ext>
            </a:extLst>
          </p:cNvPr>
          <p:cNvSpPr txBox="1">
            <a:spLocks/>
          </p:cNvSpPr>
          <p:nvPr/>
        </p:nvSpPr>
        <p:spPr>
          <a:xfrm>
            <a:off x="1597477" y="1026793"/>
            <a:ext cx="1992393" cy="40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1800" b="1" i="0" u="none" strike="noStrike" dirty="0">
                <a:solidFill>
                  <a:srgbClr val="C69206"/>
                </a:solidFill>
                <a:effectLst/>
                <a:latin typeface="Arial" panose="020B0604020202020204" pitchFamily="34" charset="0"/>
              </a:rPr>
              <a:t>Indicateurs clés </a:t>
            </a:r>
            <a:endParaRPr lang="fr-FR" sz="7200" b="1" dirty="0">
              <a:solidFill>
                <a:srgbClr val="C69206"/>
              </a:solidFill>
            </a:endParaRPr>
          </a:p>
        </p:txBody>
      </p:sp>
      <p:sp>
        <p:nvSpPr>
          <p:cNvPr id="21" name="Larme 20">
            <a:extLst>
              <a:ext uri="{FF2B5EF4-FFF2-40B4-BE49-F238E27FC236}">
                <a16:creationId xmlns:a16="http://schemas.microsoft.com/office/drawing/2014/main" id="{136AB32B-5343-43C6-4DBA-E0E8A6D23182}"/>
              </a:ext>
            </a:extLst>
          </p:cNvPr>
          <p:cNvSpPr/>
          <p:nvPr/>
        </p:nvSpPr>
        <p:spPr>
          <a:xfrm>
            <a:off x="1501071" y="1198135"/>
            <a:ext cx="125847" cy="119850"/>
          </a:xfrm>
          <a:prstGeom prst="teardrop">
            <a:avLst/>
          </a:prstGeom>
          <a:noFill/>
          <a:ln>
            <a:solidFill>
              <a:srgbClr val="C69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425F163D-9153-40CD-C4A1-03B082C7E92D}"/>
              </a:ext>
            </a:extLst>
          </p:cNvPr>
          <p:cNvSpPr txBox="1"/>
          <p:nvPr/>
        </p:nvSpPr>
        <p:spPr>
          <a:xfrm>
            <a:off x="879264" y="1474741"/>
            <a:ext cx="27288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fontAlgn="base">
              <a:spcAft>
                <a:spcPts val="300"/>
              </a:spcAft>
            </a:pPr>
            <a:r>
              <a:rPr lang="fr-FR" sz="1600" b="1" dirty="0">
                <a:latin typeface="Arial" panose="020B0604020202020204" pitchFamily="34" charset="0"/>
              </a:rPr>
              <a:t>Total du profit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:</a:t>
            </a:r>
            <a:endParaRPr lang="fr-FR" sz="105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81C16054-23F4-B212-5B1F-657C27D13B87}"/>
              </a:ext>
            </a:extLst>
          </p:cNvPr>
          <p:cNvSpPr/>
          <p:nvPr/>
        </p:nvSpPr>
        <p:spPr>
          <a:xfrm>
            <a:off x="2527773" y="1491405"/>
            <a:ext cx="1108220" cy="307777"/>
          </a:xfrm>
          <a:prstGeom prst="roundRect">
            <a:avLst/>
          </a:prstGeom>
          <a:solidFill>
            <a:srgbClr val="CBC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30281A"/>
              </a:solidFill>
            </a:endParaRPr>
          </a:p>
        </p:txBody>
      </p:sp>
      <p:sp>
        <p:nvSpPr>
          <p:cNvPr id="31" name="Titre 5">
            <a:extLst>
              <a:ext uri="{FF2B5EF4-FFF2-40B4-BE49-F238E27FC236}">
                <a16:creationId xmlns:a16="http://schemas.microsoft.com/office/drawing/2014/main" id="{BE8A71B3-CE85-961F-1787-235CA9A201AA}"/>
              </a:ext>
            </a:extLst>
          </p:cNvPr>
          <p:cNvSpPr txBox="1">
            <a:spLocks/>
          </p:cNvSpPr>
          <p:nvPr/>
        </p:nvSpPr>
        <p:spPr>
          <a:xfrm>
            <a:off x="2446235" y="1416716"/>
            <a:ext cx="1327315" cy="45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2000" b="1" dirty="0">
                <a:solidFill>
                  <a:srgbClr val="071637"/>
                </a:solidFill>
                <a:latin typeface="Arial" panose="020B0604020202020204" pitchFamily="34" charset="0"/>
              </a:rPr>
              <a:t>285 740</a:t>
            </a:r>
            <a:endParaRPr lang="fr-FR" sz="7200" b="1" dirty="0">
              <a:solidFill>
                <a:srgbClr val="071637"/>
              </a:solidFill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601DA7AB-C29C-EF00-1E91-2323F0B097B5}"/>
              </a:ext>
            </a:extLst>
          </p:cNvPr>
          <p:cNvSpPr txBox="1"/>
          <p:nvPr/>
        </p:nvSpPr>
        <p:spPr>
          <a:xfrm>
            <a:off x="879119" y="1850880"/>
            <a:ext cx="32973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fontAlgn="base">
              <a:spcAft>
                <a:spcPts val="300"/>
              </a:spcAft>
            </a:pPr>
            <a:r>
              <a:rPr lang="fr-F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Marge bénéficiaire moyenne : </a:t>
            </a:r>
            <a:endParaRPr lang="fr-FR" sz="7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8C8DFA3C-61FB-C525-2890-26B410F6A38A}"/>
              </a:ext>
            </a:extLst>
          </p:cNvPr>
          <p:cNvSpPr/>
          <p:nvPr/>
        </p:nvSpPr>
        <p:spPr>
          <a:xfrm>
            <a:off x="3867644" y="1864242"/>
            <a:ext cx="918960" cy="307777"/>
          </a:xfrm>
          <a:prstGeom prst="roundRect">
            <a:avLst/>
          </a:prstGeom>
          <a:solidFill>
            <a:srgbClr val="CBC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30281A"/>
              </a:solidFill>
            </a:endParaRPr>
          </a:p>
        </p:txBody>
      </p:sp>
      <p:sp>
        <p:nvSpPr>
          <p:cNvPr id="34" name="Titre 5">
            <a:extLst>
              <a:ext uri="{FF2B5EF4-FFF2-40B4-BE49-F238E27FC236}">
                <a16:creationId xmlns:a16="http://schemas.microsoft.com/office/drawing/2014/main" id="{A7C67A2B-F2F3-AF08-06BC-5C8D022DE7BB}"/>
              </a:ext>
            </a:extLst>
          </p:cNvPr>
          <p:cNvSpPr txBox="1">
            <a:spLocks/>
          </p:cNvSpPr>
          <p:nvPr/>
        </p:nvSpPr>
        <p:spPr>
          <a:xfrm>
            <a:off x="3853808" y="1799363"/>
            <a:ext cx="1013348" cy="38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2000" b="1" dirty="0">
                <a:solidFill>
                  <a:srgbClr val="071637"/>
                </a:solidFill>
                <a:latin typeface="Arial" panose="020B0604020202020204" pitchFamily="34" charset="0"/>
              </a:rPr>
              <a:t>12,4 %</a:t>
            </a:r>
            <a:endParaRPr lang="fr-FR" sz="7200" b="1" dirty="0">
              <a:solidFill>
                <a:srgbClr val="071637"/>
              </a:solidFill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570B5B48-CEEE-8369-ED3E-BB0BDFBE0147}"/>
              </a:ext>
            </a:extLst>
          </p:cNvPr>
          <p:cNvSpPr txBox="1"/>
          <p:nvPr/>
        </p:nvSpPr>
        <p:spPr>
          <a:xfrm>
            <a:off x="863204" y="2916213"/>
            <a:ext cx="46837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fontAlgn="base">
              <a:spcAft>
                <a:spcPts val="300"/>
              </a:spcAft>
            </a:pPr>
            <a:r>
              <a:rPr lang="fr-F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Catégorie de Produits les plus rentables: </a:t>
            </a:r>
            <a:endParaRPr lang="fr-FR" sz="7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5FF1A163-601A-8282-DD7F-8E779A9BA0A4}"/>
              </a:ext>
            </a:extLst>
          </p:cNvPr>
          <p:cNvSpPr/>
          <p:nvPr/>
        </p:nvSpPr>
        <p:spPr>
          <a:xfrm>
            <a:off x="1021237" y="3244322"/>
            <a:ext cx="1455992" cy="338554"/>
          </a:xfrm>
          <a:prstGeom prst="roundRect">
            <a:avLst/>
          </a:prstGeom>
          <a:solidFill>
            <a:srgbClr val="0716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30281A"/>
              </a:solidFill>
            </a:endParaRPr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54ACDB97-3FE4-122D-4B5B-3FB5344913A4}"/>
              </a:ext>
            </a:extLst>
          </p:cNvPr>
          <p:cNvSpPr/>
          <p:nvPr/>
        </p:nvSpPr>
        <p:spPr>
          <a:xfrm>
            <a:off x="2617097" y="3243167"/>
            <a:ext cx="1337931" cy="343924"/>
          </a:xfrm>
          <a:prstGeom prst="roundRect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30281A"/>
              </a:solidFill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90CE1B29-5D86-D6F6-6972-AA19EC67A101}"/>
              </a:ext>
            </a:extLst>
          </p:cNvPr>
          <p:cNvSpPr txBox="1"/>
          <p:nvPr/>
        </p:nvSpPr>
        <p:spPr>
          <a:xfrm>
            <a:off x="863204" y="2190476"/>
            <a:ext cx="26693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fontAlgn="base">
              <a:spcAft>
                <a:spcPts val="300"/>
              </a:spcAft>
            </a:pPr>
            <a:r>
              <a:rPr lang="fr-FR" sz="1600" b="1" dirty="0">
                <a:latin typeface="Arial" panose="020B0604020202020204" pitchFamily="34" charset="0"/>
              </a:rPr>
              <a:t>Rentabilité par région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: </a:t>
            </a:r>
            <a:endParaRPr lang="fr-FR" sz="7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C253E6D5-EFB7-959F-3A0C-96FAD0638B31}"/>
              </a:ext>
            </a:extLst>
          </p:cNvPr>
          <p:cNvSpPr txBox="1"/>
          <p:nvPr/>
        </p:nvSpPr>
        <p:spPr>
          <a:xfrm>
            <a:off x="849773" y="2547861"/>
            <a:ext cx="31696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fontAlgn="base">
              <a:spcAft>
                <a:spcPts val="300"/>
              </a:spcAft>
            </a:pPr>
            <a:r>
              <a:rPr lang="fr-FR" sz="1600" b="1" dirty="0">
                <a:latin typeface="Arial" panose="020B0604020202020204" pitchFamily="34" charset="0"/>
              </a:rPr>
              <a:t>Top clients les plus rentables :</a:t>
            </a:r>
            <a:endParaRPr lang="fr-FR" sz="7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95E4C19-3D1C-2FD7-A500-308D69D16700}"/>
              </a:ext>
            </a:extLst>
          </p:cNvPr>
          <p:cNvSpPr/>
          <p:nvPr/>
        </p:nvSpPr>
        <p:spPr>
          <a:xfrm>
            <a:off x="5321447" y="483801"/>
            <a:ext cx="3646934" cy="318413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0715" t="-11618" r="-13314" b="-597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3F49E66B-03B5-5BED-25E0-BBC71889E6CE}"/>
              </a:ext>
            </a:extLst>
          </p:cNvPr>
          <p:cNvSpPr/>
          <p:nvPr/>
        </p:nvSpPr>
        <p:spPr>
          <a:xfrm>
            <a:off x="3388645" y="2239467"/>
            <a:ext cx="464066" cy="285754"/>
          </a:xfrm>
          <a:prstGeom prst="roundRect">
            <a:avLst/>
          </a:prstGeom>
          <a:solidFill>
            <a:srgbClr val="CBC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30281A"/>
              </a:solidFill>
            </a:endParaRPr>
          </a:p>
        </p:txBody>
      </p:sp>
      <p:sp>
        <p:nvSpPr>
          <p:cNvPr id="48" name="Titre 5">
            <a:extLst>
              <a:ext uri="{FF2B5EF4-FFF2-40B4-BE49-F238E27FC236}">
                <a16:creationId xmlns:a16="http://schemas.microsoft.com/office/drawing/2014/main" id="{A3C84CEB-B7DC-CA49-E370-FB3BFD5DDFA1}"/>
              </a:ext>
            </a:extLst>
          </p:cNvPr>
          <p:cNvSpPr txBox="1">
            <a:spLocks/>
          </p:cNvSpPr>
          <p:nvPr/>
        </p:nvSpPr>
        <p:spPr>
          <a:xfrm>
            <a:off x="1482523" y="3667932"/>
            <a:ext cx="3082259" cy="45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1600" b="0" i="0" u="none" strike="noStrike" dirty="0">
                <a:solidFill>
                  <a:srgbClr val="C6920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fr-FR" sz="1600" b="1" i="0" u="none" strike="noStrike" dirty="0">
                <a:solidFill>
                  <a:srgbClr val="C69206"/>
                </a:solidFill>
                <a:effectLst/>
                <a:latin typeface="Arial" panose="020B0604020202020204" pitchFamily="34" charset="0"/>
              </a:rPr>
              <a:t>Interprétation des tendances</a:t>
            </a:r>
            <a:endParaRPr lang="fr-FR" sz="6000" b="1" dirty="0">
              <a:solidFill>
                <a:srgbClr val="C69206"/>
              </a:solidFill>
            </a:endParaRPr>
          </a:p>
        </p:txBody>
      </p:sp>
      <p:sp>
        <p:nvSpPr>
          <p:cNvPr id="49" name="Larme 48">
            <a:extLst>
              <a:ext uri="{FF2B5EF4-FFF2-40B4-BE49-F238E27FC236}">
                <a16:creationId xmlns:a16="http://schemas.microsoft.com/office/drawing/2014/main" id="{45551AE4-7D9E-9C9A-2A1A-BEB6A1F11FB7}"/>
              </a:ext>
            </a:extLst>
          </p:cNvPr>
          <p:cNvSpPr/>
          <p:nvPr/>
        </p:nvSpPr>
        <p:spPr>
          <a:xfrm>
            <a:off x="1438147" y="3833210"/>
            <a:ext cx="125847" cy="119850"/>
          </a:xfrm>
          <a:prstGeom prst="teardrop">
            <a:avLst/>
          </a:prstGeom>
          <a:noFill/>
          <a:ln>
            <a:solidFill>
              <a:srgbClr val="C69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87BDFCB7-0ED7-2627-1FD6-8C7897A017E1}"/>
              </a:ext>
            </a:extLst>
          </p:cNvPr>
          <p:cNvSpPr txBox="1"/>
          <p:nvPr/>
        </p:nvSpPr>
        <p:spPr>
          <a:xfrm>
            <a:off x="941412" y="4024959"/>
            <a:ext cx="6221975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200" b="1" dirty="0">
                <a:latin typeface="Arial" panose="020B0604020202020204" pitchFamily="34" charset="0"/>
              </a:rPr>
              <a:t>La</a:t>
            </a: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marge bénéficiaire de 12,4 % combinée à une remise moyenne de 15,6 %</a:t>
            </a:r>
            <a:r>
              <a:rPr lang="fr-F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indique une pression sur les marges, nécessitant une </a:t>
            </a: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optimisation des remises</a:t>
            </a:r>
            <a:r>
              <a:rPr lang="fr-F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fr-FR" sz="1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Les Technologies et fournitures sont les plus rentables</a:t>
            </a:r>
            <a:r>
              <a:rPr lang="fr-F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indiquant un fort potentiel dans ces catégories.</a:t>
            </a:r>
          </a:p>
        </p:txBody>
      </p:sp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DC474ED3-D201-9C9A-14FE-6118E7046898}"/>
              </a:ext>
            </a:extLst>
          </p:cNvPr>
          <p:cNvSpPr/>
          <p:nvPr/>
        </p:nvSpPr>
        <p:spPr>
          <a:xfrm>
            <a:off x="3940341" y="2582936"/>
            <a:ext cx="1327374" cy="285754"/>
          </a:xfrm>
          <a:prstGeom prst="roundRect">
            <a:avLst/>
          </a:prstGeom>
          <a:solidFill>
            <a:srgbClr val="CBC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30281A"/>
              </a:solidFill>
            </a:endParaRPr>
          </a:p>
        </p:txBody>
      </p:sp>
      <p:sp>
        <p:nvSpPr>
          <p:cNvPr id="52" name="Flèche : droite 51">
            <a:extLst>
              <a:ext uri="{FF2B5EF4-FFF2-40B4-BE49-F238E27FC236}">
                <a16:creationId xmlns:a16="http://schemas.microsoft.com/office/drawing/2014/main" id="{C4E9A967-C143-9A44-5DEC-7AFE0FCA18A2}"/>
              </a:ext>
            </a:extLst>
          </p:cNvPr>
          <p:cNvSpPr/>
          <p:nvPr/>
        </p:nvSpPr>
        <p:spPr>
          <a:xfrm>
            <a:off x="3495152" y="2277239"/>
            <a:ext cx="278398" cy="2102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5">
            <a:extLst>
              <a:ext uri="{FF2B5EF4-FFF2-40B4-BE49-F238E27FC236}">
                <a16:creationId xmlns:a16="http://schemas.microsoft.com/office/drawing/2014/main" id="{35094EC8-1DBE-41BD-F120-F90D14374E17}"/>
              </a:ext>
            </a:extLst>
          </p:cNvPr>
          <p:cNvSpPr txBox="1">
            <a:spLocks/>
          </p:cNvSpPr>
          <p:nvPr/>
        </p:nvSpPr>
        <p:spPr>
          <a:xfrm>
            <a:off x="3630739" y="2525221"/>
            <a:ext cx="1941996" cy="38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1600" b="1" dirty="0">
                <a:solidFill>
                  <a:srgbClr val="071637"/>
                </a:solidFill>
                <a:latin typeface="Arial" panose="020B0604020202020204" pitchFamily="34" charset="0"/>
              </a:rPr>
              <a:t>Visualisation</a:t>
            </a:r>
            <a:endParaRPr lang="fr-FR" sz="6000" b="1" dirty="0">
              <a:solidFill>
                <a:srgbClr val="071637"/>
              </a:solidFill>
            </a:endParaRPr>
          </a:p>
        </p:txBody>
      </p:sp>
      <p:sp>
        <p:nvSpPr>
          <p:cNvPr id="4" name="Titre 5">
            <a:extLst>
              <a:ext uri="{FF2B5EF4-FFF2-40B4-BE49-F238E27FC236}">
                <a16:creationId xmlns:a16="http://schemas.microsoft.com/office/drawing/2014/main" id="{23D1CF52-4269-A236-67E1-F350173FDCF6}"/>
              </a:ext>
            </a:extLst>
          </p:cNvPr>
          <p:cNvSpPr txBox="1">
            <a:spLocks/>
          </p:cNvSpPr>
          <p:nvPr/>
        </p:nvSpPr>
        <p:spPr>
          <a:xfrm>
            <a:off x="967847" y="3196166"/>
            <a:ext cx="1495886" cy="38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1600" b="1" dirty="0">
                <a:solidFill>
                  <a:srgbClr val="FFFFFF"/>
                </a:solidFill>
                <a:latin typeface="Arial" panose="020B0604020202020204" pitchFamily="34" charset="0"/>
              </a:rPr>
              <a:t>Technologie</a:t>
            </a:r>
            <a:endParaRPr lang="fr-FR" sz="6000" b="1" dirty="0">
              <a:solidFill>
                <a:srgbClr val="FFFFFF"/>
              </a:solidFill>
            </a:endParaRPr>
          </a:p>
        </p:txBody>
      </p:sp>
      <p:sp>
        <p:nvSpPr>
          <p:cNvPr id="5" name="Titre 5">
            <a:extLst>
              <a:ext uri="{FF2B5EF4-FFF2-40B4-BE49-F238E27FC236}">
                <a16:creationId xmlns:a16="http://schemas.microsoft.com/office/drawing/2014/main" id="{42E0E158-E8D1-BC2A-501D-101244089A75}"/>
              </a:ext>
            </a:extLst>
          </p:cNvPr>
          <p:cNvSpPr txBox="1">
            <a:spLocks/>
          </p:cNvSpPr>
          <p:nvPr/>
        </p:nvSpPr>
        <p:spPr>
          <a:xfrm>
            <a:off x="2463733" y="3207652"/>
            <a:ext cx="1613265" cy="38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1800" b="1" dirty="0">
                <a:solidFill>
                  <a:srgbClr val="FFFFFF"/>
                </a:solidFill>
                <a:latin typeface="Arial" panose="020B0604020202020204" pitchFamily="34" charset="0"/>
              </a:rPr>
              <a:t>Fourniture </a:t>
            </a:r>
            <a:endParaRPr lang="fr-FR" sz="6600" b="1" dirty="0">
              <a:solidFill>
                <a:srgbClr val="FFFFFF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1957948-D6B9-4F11-58A6-A2D73B0F1444}"/>
              </a:ext>
            </a:extLst>
          </p:cNvPr>
          <p:cNvSpPr/>
          <p:nvPr/>
        </p:nvSpPr>
        <p:spPr>
          <a:xfrm>
            <a:off x="7867792" y="-1407883"/>
            <a:ext cx="2132602" cy="2110664"/>
          </a:xfrm>
          <a:prstGeom prst="ellipse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9BD4E555-F850-4491-74BA-860BE2B11008}"/>
              </a:ext>
            </a:extLst>
          </p:cNvPr>
          <p:cNvSpPr/>
          <p:nvPr/>
        </p:nvSpPr>
        <p:spPr>
          <a:xfrm>
            <a:off x="8701344" y="767111"/>
            <a:ext cx="232749" cy="229388"/>
          </a:xfrm>
          <a:prstGeom prst="ellipse">
            <a:avLst/>
          </a:prstGeom>
          <a:solidFill>
            <a:srgbClr val="1C9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576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6">
          <a:extLst>
            <a:ext uri="{FF2B5EF4-FFF2-40B4-BE49-F238E27FC236}">
              <a16:creationId xmlns:a16="http://schemas.microsoft.com/office/drawing/2014/main" id="{3A76DEEB-C1B7-8596-3600-544FA6BB3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84E0549A-679A-C988-FBDF-158C5431B852}"/>
              </a:ext>
            </a:extLst>
          </p:cNvPr>
          <p:cNvSpPr/>
          <p:nvPr/>
        </p:nvSpPr>
        <p:spPr>
          <a:xfrm>
            <a:off x="8475160" y="3709793"/>
            <a:ext cx="1542782" cy="150621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0B230A01-E177-F147-3A21-83A6CC03FFA0}"/>
              </a:ext>
            </a:extLst>
          </p:cNvPr>
          <p:cNvSpPr/>
          <p:nvPr/>
        </p:nvSpPr>
        <p:spPr>
          <a:xfrm>
            <a:off x="-261037" y="4400550"/>
            <a:ext cx="1072844" cy="112298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37E72D-4B3D-F125-9A79-16B0B934BB64}"/>
              </a:ext>
            </a:extLst>
          </p:cNvPr>
          <p:cNvSpPr/>
          <p:nvPr/>
        </p:nvSpPr>
        <p:spPr>
          <a:xfrm>
            <a:off x="-25488" y="-254281"/>
            <a:ext cx="793269" cy="53421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A9864B2E-A484-71EC-3CE9-CA0C6018EA5C}"/>
              </a:ext>
            </a:extLst>
          </p:cNvPr>
          <p:cNvSpPr/>
          <p:nvPr/>
        </p:nvSpPr>
        <p:spPr>
          <a:xfrm>
            <a:off x="-799484" y="1790196"/>
            <a:ext cx="1571302" cy="16888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2C5427FB-70C5-52C5-CEEA-738E1A9D76C7}"/>
              </a:ext>
            </a:extLst>
          </p:cNvPr>
          <p:cNvSpPr/>
          <p:nvPr/>
        </p:nvSpPr>
        <p:spPr>
          <a:xfrm>
            <a:off x="8483516" y="1707847"/>
            <a:ext cx="1641559" cy="16888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7660CB5F-3903-8929-1BA5-4BC870EC3E4C}"/>
              </a:ext>
            </a:extLst>
          </p:cNvPr>
          <p:cNvSpPr/>
          <p:nvPr/>
        </p:nvSpPr>
        <p:spPr>
          <a:xfrm>
            <a:off x="7589717" y="-1105006"/>
            <a:ext cx="2372112" cy="221001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FDC43769-E785-0D4C-7970-9217B110D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38" y="294235"/>
            <a:ext cx="4019932" cy="487026"/>
          </a:xfrm>
        </p:spPr>
        <p:txBody>
          <a:bodyPr/>
          <a:lstStyle/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fr-FR" sz="105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ANALYSE DES VENTES &amp;</a:t>
            </a:r>
            <a:br>
              <a:rPr lang="fr-FR" sz="105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fr-FR" sz="105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PERFORMANCES COMMERCIALES</a:t>
            </a:r>
            <a:endParaRPr lang="fr-FR" sz="900" b="1" dirty="0">
              <a:effectLst/>
            </a:endParaRPr>
          </a:p>
        </p:txBody>
      </p:sp>
      <p:sp>
        <p:nvSpPr>
          <p:cNvPr id="18" name="Titre 5">
            <a:extLst>
              <a:ext uri="{FF2B5EF4-FFF2-40B4-BE49-F238E27FC236}">
                <a16:creationId xmlns:a16="http://schemas.microsoft.com/office/drawing/2014/main" id="{49FD6737-7B59-1307-7514-358AB825EB4B}"/>
              </a:ext>
            </a:extLst>
          </p:cNvPr>
          <p:cNvSpPr txBox="1">
            <a:spLocks/>
          </p:cNvSpPr>
          <p:nvPr/>
        </p:nvSpPr>
        <p:spPr>
          <a:xfrm>
            <a:off x="1003330" y="-40587"/>
            <a:ext cx="2116393" cy="48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2400" b="1" i="0" u="none" strike="noStrike" dirty="0">
                <a:solidFill>
                  <a:srgbClr val="C69206"/>
                </a:solidFill>
                <a:effectLst/>
                <a:latin typeface="Arial" panose="020B0604020202020204" pitchFamily="34" charset="0"/>
              </a:rPr>
              <a:t>Visualisation</a:t>
            </a:r>
            <a:endParaRPr lang="fr-FR" sz="8800" b="1" dirty="0">
              <a:solidFill>
                <a:srgbClr val="C69206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3A2085-4076-12A0-30C5-CDED87C03B2A}"/>
              </a:ext>
            </a:extLst>
          </p:cNvPr>
          <p:cNvSpPr/>
          <p:nvPr/>
        </p:nvSpPr>
        <p:spPr>
          <a:xfrm>
            <a:off x="1556858" y="5002306"/>
            <a:ext cx="5386873" cy="169491"/>
          </a:xfrm>
          <a:prstGeom prst="rect">
            <a:avLst/>
          </a:prstGeom>
          <a:solidFill>
            <a:srgbClr val="0716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035334-363B-2211-93F1-FEC558519DB5}"/>
              </a:ext>
            </a:extLst>
          </p:cNvPr>
          <p:cNvSpPr/>
          <p:nvPr/>
        </p:nvSpPr>
        <p:spPr>
          <a:xfrm>
            <a:off x="1136861" y="391623"/>
            <a:ext cx="1819355" cy="45719"/>
          </a:xfrm>
          <a:prstGeom prst="rect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Larme 16">
            <a:extLst>
              <a:ext uri="{FF2B5EF4-FFF2-40B4-BE49-F238E27FC236}">
                <a16:creationId xmlns:a16="http://schemas.microsoft.com/office/drawing/2014/main" id="{D422C827-A814-27D3-C6D3-BA5AED512FA8}"/>
              </a:ext>
            </a:extLst>
          </p:cNvPr>
          <p:cNvSpPr/>
          <p:nvPr/>
        </p:nvSpPr>
        <p:spPr>
          <a:xfrm flipV="1">
            <a:off x="811807" y="161837"/>
            <a:ext cx="189621" cy="200410"/>
          </a:xfrm>
          <a:prstGeom prst="teardrop">
            <a:avLst/>
          </a:prstGeom>
          <a:noFill/>
          <a:ln>
            <a:solidFill>
              <a:srgbClr val="C692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AAF6B7-4084-BAF7-3C7E-7B81E0DF40EC}"/>
              </a:ext>
            </a:extLst>
          </p:cNvPr>
          <p:cNvSpPr/>
          <p:nvPr/>
        </p:nvSpPr>
        <p:spPr>
          <a:xfrm>
            <a:off x="368227" y="492774"/>
            <a:ext cx="8369446" cy="451905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46C8899E-9E4D-7883-6608-9D72D80CEE29}"/>
              </a:ext>
            </a:extLst>
          </p:cNvPr>
          <p:cNvSpPr/>
          <p:nvPr/>
        </p:nvSpPr>
        <p:spPr>
          <a:xfrm>
            <a:off x="7752963" y="120220"/>
            <a:ext cx="177308" cy="17401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84EB1788-320B-EEBB-1379-5A46A868F9FA}"/>
              </a:ext>
            </a:extLst>
          </p:cNvPr>
          <p:cNvSpPr/>
          <p:nvPr/>
        </p:nvSpPr>
        <p:spPr>
          <a:xfrm>
            <a:off x="8730083" y="735670"/>
            <a:ext cx="249551" cy="25432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1162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316">
          <a:extLst>
            <a:ext uri="{FF2B5EF4-FFF2-40B4-BE49-F238E27FC236}">
              <a16:creationId xmlns:a16="http://schemas.microsoft.com/office/drawing/2014/main" id="{6454680E-8851-D82F-B2CD-39586379E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ECC3DA28-D0FD-3E9E-A956-9D351A818BE2}"/>
              </a:ext>
            </a:extLst>
          </p:cNvPr>
          <p:cNvSpPr/>
          <p:nvPr/>
        </p:nvSpPr>
        <p:spPr>
          <a:xfrm>
            <a:off x="7509152" y="-1450665"/>
            <a:ext cx="2549131" cy="2661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1363FD-A92E-9861-34FD-DDD5E41A3A5B}"/>
              </a:ext>
            </a:extLst>
          </p:cNvPr>
          <p:cNvSpPr/>
          <p:nvPr/>
        </p:nvSpPr>
        <p:spPr>
          <a:xfrm>
            <a:off x="8309334" y="-250950"/>
            <a:ext cx="856446" cy="5805076"/>
          </a:xfrm>
          <a:prstGeom prst="rect">
            <a:avLst/>
          </a:prstGeom>
          <a:solidFill>
            <a:srgbClr val="0716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7163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73E48B-9C7A-13EA-12F0-76BCA3195599}"/>
              </a:ext>
            </a:extLst>
          </p:cNvPr>
          <p:cNvSpPr/>
          <p:nvPr/>
        </p:nvSpPr>
        <p:spPr>
          <a:xfrm>
            <a:off x="-45643" y="-198687"/>
            <a:ext cx="793269" cy="53421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</a:endParaRPr>
          </a:p>
        </p:txBody>
      </p:sp>
      <p:sp>
        <p:nvSpPr>
          <p:cNvPr id="2332" name="Google Shape;2332;p42">
            <a:extLst>
              <a:ext uri="{FF2B5EF4-FFF2-40B4-BE49-F238E27FC236}">
                <a16:creationId xmlns:a16="http://schemas.microsoft.com/office/drawing/2014/main" id="{2023BE5C-F865-37B6-F6A0-5C437F3A7F79}"/>
              </a:ext>
            </a:extLst>
          </p:cNvPr>
          <p:cNvSpPr txBox="1"/>
          <p:nvPr/>
        </p:nvSpPr>
        <p:spPr>
          <a:xfrm>
            <a:off x="4786604" y="3580417"/>
            <a:ext cx="10213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23 Jours</a:t>
            </a:r>
            <a:endParaRPr/>
          </a:p>
        </p:txBody>
      </p:sp>
      <p:sp>
        <p:nvSpPr>
          <p:cNvPr id="2333" name="Google Shape;2333;p42">
            <a:extLst>
              <a:ext uri="{FF2B5EF4-FFF2-40B4-BE49-F238E27FC236}">
                <a16:creationId xmlns:a16="http://schemas.microsoft.com/office/drawing/2014/main" id="{3345F3DA-9C47-AA47-8424-6900DBD3221A}"/>
              </a:ext>
            </a:extLst>
          </p:cNvPr>
          <p:cNvSpPr txBox="1"/>
          <p:nvPr/>
        </p:nvSpPr>
        <p:spPr>
          <a:xfrm>
            <a:off x="4077615" y="4131273"/>
            <a:ext cx="10213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97 Jours</a:t>
            </a:r>
            <a:endParaRPr/>
          </a:p>
        </p:txBody>
      </p:sp>
      <p:sp>
        <p:nvSpPr>
          <p:cNvPr id="2342" name="Google Shape;2342;p42">
            <a:extLst>
              <a:ext uri="{FF2B5EF4-FFF2-40B4-BE49-F238E27FC236}">
                <a16:creationId xmlns:a16="http://schemas.microsoft.com/office/drawing/2014/main" id="{780C9113-D12E-6F99-42C5-9DAE1478ED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7C3ED2B3-62CC-498A-A7E5-06135A79B13E}"/>
              </a:ext>
            </a:extLst>
          </p:cNvPr>
          <p:cNvSpPr/>
          <p:nvPr/>
        </p:nvSpPr>
        <p:spPr>
          <a:xfrm>
            <a:off x="-1038820" y="-1168453"/>
            <a:ext cx="2132602" cy="2110664"/>
          </a:xfrm>
          <a:prstGeom prst="ellipse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7421B255-80E8-0F5C-E6A8-DBC4353CEE30}"/>
              </a:ext>
            </a:extLst>
          </p:cNvPr>
          <p:cNvSpPr/>
          <p:nvPr/>
        </p:nvSpPr>
        <p:spPr>
          <a:xfrm>
            <a:off x="255340" y="952323"/>
            <a:ext cx="187830" cy="178134"/>
          </a:xfrm>
          <a:prstGeom prst="ellipse">
            <a:avLst/>
          </a:prstGeom>
          <a:solidFill>
            <a:srgbClr val="1C9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584A716-3040-4664-A010-3D9ECC49727A}"/>
              </a:ext>
            </a:extLst>
          </p:cNvPr>
          <p:cNvSpPr/>
          <p:nvPr/>
        </p:nvSpPr>
        <p:spPr>
          <a:xfrm>
            <a:off x="1086447" y="82503"/>
            <a:ext cx="177308" cy="174015"/>
          </a:xfrm>
          <a:prstGeom prst="ellipse">
            <a:avLst/>
          </a:prstGeom>
          <a:solidFill>
            <a:srgbClr val="1C9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D6921618-4C0F-1ADD-ABC2-F38FD5332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726" y="370802"/>
            <a:ext cx="6074969" cy="655013"/>
          </a:xfrm>
        </p:spPr>
        <p:txBody>
          <a:bodyPr/>
          <a:lstStyle/>
          <a:p>
            <a:r>
              <a:rPr lang="fr-FR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SYNTHÈSE DES RÉSULTATS CLÉS</a:t>
            </a:r>
            <a:endParaRPr lang="fr-FR" sz="11500" b="1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02C73682-3304-000B-A399-F22E8C21D720}"/>
              </a:ext>
            </a:extLst>
          </p:cNvPr>
          <p:cNvSpPr/>
          <p:nvPr/>
        </p:nvSpPr>
        <p:spPr>
          <a:xfrm>
            <a:off x="8740592" y="4692191"/>
            <a:ext cx="103020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402CE43-FBD9-8F78-72C4-F7A9648C0BEB}"/>
              </a:ext>
            </a:extLst>
          </p:cNvPr>
          <p:cNvSpPr/>
          <p:nvPr/>
        </p:nvSpPr>
        <p:spPr>
          <a:xfrm>
            <a:off x="1051142" y="1210375"/>
            <a:ext cx="107267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itre 5">
            <a:extLst>
              <a:ext uri="{FF2B5EF4-FFF2-40B4-BE49-F238E27FC236}">
                <a16:creationId xmlns:a16="http://schemas.microsoft.com/office/drawing/2014/main" id="{25C52AB7-338B-30CD-822D-6FF468459A2B}"/>
              </a:ext>
            </a:extLst>
          </p:cNvPr>
          <p:cNvSpPr txBox="1">
            <a:spLocks/>
          </p:cNvSpPr>
          <p:nvPr/>
        </p:nvSpPr>
        <p:spPr>
          <a:xfrm>
            <a:off x="1144026" y="898101"/>
            <a:ext cx="6661038" cy="1388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algn="l" rtl="0" fontAlgn="base">
              <a:spcBef>
                <a:spcPts val="1200"/>
              </a:spcBef>
            </a:pPr>
            <a:r>
              <a:rPr lang="fr-FR" sz="16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Ventes en croissance mais avec une forte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16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saisonnalité.</a:t>
            </a:r>
          </a:p>
          <a:p>
            <a:pPr algn="l" rtl="0" fontAlgn="base"/>
            <a:r>
              <a:rPr lang="fr-FR" sz="16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Les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16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clients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16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du segment 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Entreprise </a:t>
            </a:r>
            <a:r>
              <a:rPr lang="fr-FR" sz="16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et </a:t>
            </a:r>
            <a:r>
              <a:rPr lang="fr-FR" sz="1600" b="1" dirty="0">
                <a:solidFill>
                  <a:srgbClr val="000000"/>
                </a:solidFill>
                <a:latin typeface="Arial" panose="020B0604020202020204" pitchFamily="34" charset="0"/>
              </a:rPr>
              <a:t>Bureau</a:t>
            </a:r>
            <a:r>
              <a:rPr lang="fr-FR" sz="16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sont les plus rentables.</a:t>
            </a:r>
          </a:p>
          <a:p>
            <a:pPr algn="l" rtl="0" fontAlgn="base"/>
            <a:r>
              <a:rPr lang="fr-FR" sz="16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Certaines 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régions sont sous-exploitées</a:t>
            </a:r>
            <a:r>
              <a:rPr lang="fr-FR" sz="16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et offrent des opportunités.</a:t>
            </a:r>
          </a:p>
          <a:p>
            <a:pPr algn="l" rtl="0" fontAlgn="base">
              <a:spcAft>
                <a:spcPts val="1200"/>
              </a:spcAft>
            </a:pPr>
            <a:r>
              <a:rPr lang="fr-FR" sz="16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Des ajustements sont nécessaires pour </a:t>
            </a:r>
            <a:r>
              <a:rPr lang="fr-F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optimiser les marges</a:t>
            </a:r>
            <a:r>
              <a:rPr lang="fr-FR" sz="16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7" name="Flèche : droite 26">
            <a:extLst>
              <a:ext uri="{FF2B5EF4-FFF2-40B4-BE49-F238E27FC236}">
                <a16:creationId xmlns:a16="http://schemas.microsoft.com/office/drawing/2014/main" id="{1E6363DD-EFE1-E446-2E8E-822CA0ADBEB2}"/>
              </a:ext>
            </a:extLst>
          </p:cNvPr>
          <p:cNvSpPr/>
          <p:nvPr/>
        </p:nvSpPr>
        <p:spPr>
          <a:xfrm>
            <a:off x="1168594" y="2787460"/>
            <a:ext cx="182469" cy="153354"/>
          </a:xfrm>
          <a:prstGeom prst="rightArrow">
            <a:avLst/>
          </a:prstGeom>
          <a:ln>
            <a:solidFill>
              <a:srgbClr val="071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6A98B55A-DBCB-5724-B1DC-B7E6E3ED09F3}"/>
              </a:ext>
            </a:extLst>
          </p:cNvPr>
          <p:cNvSpPr/>
          <p:nvPr/>
        </p:nvSpPr>
        <p:spPr>
          <a:xfrm>
            <a:off x="8738468" y="4897674"/>
            <a:ext cx="107267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1785673-C4F7-482B-474E-F2683FA6AB5C}"/>
              </a:ext>
            </a:extLst>
          </p:cNvPr>
          <p:cNvSpPr txBox="1"/>
          <p:nvPr/>
        </p:nvSpPr>
        <p:spPr>
          <a:xfrm>
            <a:off x="1194115" y="3261804"/>
            <a:ext cx="5946190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Aft>
                <a:spcPts val="300"/>
              </a:spcAft>
            </a:pPr>
            <a:r>
              <a:rPr lang="fr-F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Optimisation des prix</a:t>
            </a:r>
            <a:r>
              <a:rPr lang="fr-FR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pour améliorer les marges.</a:t>
            </a:r>
            <a:br>
              <a:rPr lang="fr-FR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fr-F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Campagnes marketing ciblées</a:t>
            </a:r>
            <a:r>
              <a:rPr lang="fr-FR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pour fidéliser les clients.</a:t>
            </a:r>
            <a:endParaRPr lang="fr-FR" sz="1600" dirty="0">
              <a:latin typeface="Arial" panose="020B0604020202020204" pitchFamily="34" charset="0"/>
            </a:endParaRPr>
          </a:p>
          <a:p>
            <a:pPr rtl="0" fontAlgn="base">
              <a:spcAft>
                <a:spcPts val="300"/>
              </a:spcAft>
            </a:pPr>
            <a:r>
              <a:rPr lang="fr-F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Expansion vers les régions sous-exploitées </a:t>
            </a:r>
            <a:r>
              <a:rPr lang="fr-FR" sz="16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 sud) </a:t>
            </a:r>
            <a:r>
              <a:rPr lang="fr-FR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fr-FR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re 5">
            <a:extLst>
              <a:ext uri="{FF2B5EF4-FFF2-40B4-BE49-F238E27FC236}">
                <a16:creationId xmlns:a16="http://schemas.microsoft.com/office/drawing/2014/main" id="{23932295-8F11-EF9C-ACC4-098CAF18C2D0}"/>
              </a:ext>
            </a:extLst>
          </p:cNvPr>
          <p:cNvSpPr txBox="1">
            <a:spLocks/>
          </p:cNvSpPr>
          <p:nvPr/>
        </p:nvSpPr>
        <p:spPr>
          <a:xfrm>
            <a:off x="1357570" y="2640414"/>
            <a:ext cx="4965383" cy="65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RECOMMANDATIONS STRATÉGIQUES</a:t>
            </a:r>
            <a:endParaRPr lang="fr-FR" sz="13800" b="1" dirty="0"/>
          </a:p>
        </p:txBody>
      </p:sp>
      <p:sp>
        <p:nvSpPr>
          <p:cNvPr id="5" name="Flèche : droite 4">
            <a:extLst>
              <a:ext uri="{FF2B5EF4-FFF2-40B4-BE49-F238E27FC236}">
                <a16:creationId xmlns:a16="http://schemas.microsoft.com/office/drawing/2014/main" id="{BC5E56E4-476A-9BD7-86F7-5461A53DDD8B}"/>
              </a:ext>
            </a:extLst>
          </p:cNvPr>
          <p:cNvSpPr/>
          <p:nvPr/>
        </p:nvSpPr>
        <p:spPr>
          <a:xfrm>
            <a:off x="1154304" y="555769"/>
            <a:ext cx="182469" cy="153354"/>
          </a:xfrm>
          <a:prstGeom prst="rightArrow">
            <a:avLst/>
          </a:prstGeom>
          <a:ln>
            <a:solidFill>
              <a:srgbClr val="071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B79235ED-B47A-E5BC-88A4-F16866804D63}"/>
              </a:ext>
            </a:extLst>
          </p:cNvPr>
          <p:cNvSpPr/>
          <p:nvPr/>
        </p:nvSpPr>
        <p:spPr>
          <a:xfrm>
            <a:off x="1051141" y="1485766"/>
            <a:ext cx="107267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5BD7B041-0546-D35E-E0C4-A878D373E0F1}"/>
              </a:ext>
            </a:extLst>
          </p:cNvPr>
          <p:cNvSpPr/>
          <p:nvPr/>
        </p:nvSpPr>
        <p:spPr>
          <a:xfrm>
            <a:off x="1051140" y="1716928"/>
            <a:ext cx="107267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2618FEC-5AB9-8F8F-FC94-0051909143BB}"/>
              </a:ext>
            </a:extLst>
          </p:cNvPr>
          <p:cNvSpPr/>
          <p:nvPr/>
        </p:nvSpPr>
        <p:spPr>
          <a:xfrm>
            <a:off x="1061327" y="1962608"/>
            <a:ext cx="107267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7C01EE18-5F11-095C-F9E9-7EC5B051D24D}"/>
              </a:ext>
            </a:extLst>
          </p:cNvPr>
          <p:cNvSpPr/>
          <p:nvPr/>
        </p:nvSpPr>
        <p:spPr>
          <a:xfrm>
            <a:off x="1073171" y="3397688"/>
            <a:ext cx="107267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734454C0-5C99-344B-CBCA-A4AD6AFE452F}"/>
              </a:ext>
            </a:extLst>
          </p:cNvPr>
          <p:cNvSpPr/>
          <p:nvPr/>
        </p:nvSpPr>
        <p:spPr>
          <a:xfrm>
            <a:off x="1076092" y="3643368"/>
            <a:ext cx="107267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B872C6A4-0E64-9246-642B-08858C49F7C6}"/>
              </a:ext>
            </a:extLst>
          </p:cNvPr>
          <p:cNvSpPr/>
          <p:nvPr/>
        </p:nvSpPr>
        <p:spPr>
          <a:xfrm>
            <a:off x="1086446" y="3879955"/>
            <a:ext cx="107267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7908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6">
          <a:extLst>
            <a:ext uri="{FF2B5EF4-FFF2-40B4-BE49-F238E27FC236}">
              <a16:creationId xmlns:a16="http://schemas.microsoft.com/office/drawing/2014/main" id="{668A3BB2-0CF3-3D56-B3C1-614CE9B43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3B1A1191-67A6-686D-F19B-BDAD04BB5211}"/>
              </a:ext>
            </a:extLst>
          </p:cNvPr>
          <p:cNvSpPr/>
          <p:nvPr/>
        </p:nvSpPr>
        <p:spPr>
          <a:xfrm>
            <a:off x="7509152" y="-1450665"/>
            <a:ext cx="2549131" cy="2661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D87B3D-4DF7-E982-A605-958A5EF04573}"/>
              </a:ext>
            </a:extLst>
          </p:cNvPr>
          <p:cNvSpPr/>
          <p:nvPr/>
        </p:nvSpPr>
        <p:spPr>
          <a:xfrm>
            <a:off x="8309334" y="-250950"/>
            <a:ext cx="856446" cy="5805076"/>
          </a:xfrm>
          <a:prstGeom prst="rect">
            <a:avLst/>
          </a:prstGeom>
          <a:solidFill>
            <a:srgbClr val="0716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7163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8C58E2-B7CC-54F1-2498-181572281A98}"/>
              </a:ext>
            </a:extLst>
          </p:cNvPr>
          <p:cNvSpPr/>
          <p:nvPr/>
        </p:nvSpPr>
        <p:spPr>
          <a:xfrm>
            <a:off x="-45643" y="-198687"/>
            <a:ext cx="793269" cy="53421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FFFF"/>
              </a:solidFill>
            </a:endParaRPr>
          </a:p>
        </p:txBody>
      </p:sp>
      <p:sp>
        <p:nvSpPr>
          <p:cNvPr id="2333" name="Google Shape;2333;p42">
            <a:extLst>
              <a:ext uri="{FF2B5EF4-FFF2-40B4-BE49-F238E27FC236}">
                <a16:creationId xmlns:a16="http://schemas.microsoft.com/office/drawing/2014/main" id="{48B2D178-7786-0992-4062-3E1B95662DBF}"/>
              </a:ext>
            </a:extLst>
          </p:cNvPr>
          <p:cNvSpPr txBox="1"/>
          <p:nvPr/>
        </p:nvSpPr>
        <p:spPr>
          <a:xfrm>
            <a:off x="4077615" y="4131273"/>
            <a:ext cx="10213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97 Jours</a:t>
            </a:r>
            <a:endParaRPr/>
          </a:p>
        </p:txBody>
      </p:sp>
      <p:sp>
        <p:nvSpPr>
          <p:cNvPr id="2342" name="Google Shape;2342;p42">
            <a:extLst>
              <a:ext uri="{FF2B5EF4-FFF2-40B4-BE49-F238E27FC236}">
                <a16:creationId xmlns:a16="http://schemas.microsoft.com/office/drawing/2014/main" id="{7FC1C06F-18BE-7B54-70C1-4BB04CE242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1BBBD87E-7C6E-4934-8888-56339352D0EC}"/>
              </a:ext>
            </a:extLst>
          </p:cNvPr>
          <p:cNvSpPr/>
          <p:nvPr/>
        </p:nvSpPr>
        <p:spPr>
          <a:xfrm>
            <a:off x="-1332992" y="-1416563"/>
            <a:ext cx="2132602" cy="2110664"/>
          </a:xfrm>
          <a:prstGeom prst="ellipse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BCE988B-A6F4-FF2D-481A-B8F72129989E}"/>
              </a:ext>
            </a:extLst>
          </p:cNvPr>
          <p:cNvSpPr/>
          <p:nvPr/>
        </p:nvSpPr>
        <p:spPr>
          <a:xfrm>
            <a:off x="646693" y="-89067"/>
            <a:ext cx="187830" cy="178134"/>
          </a:xfrm>
          <a:prstGeom prst="ellipse">
            <a:avLst/>
          </a:prstGeom>
          <a:solidFill>
            <a:srgbClr val="1C9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C382F18-81FF-1A64-3617-5A73A9CD8715}"/>
              </a:ext>
            </a:extLst>
          </p:cNvPr>
          <p:cNvSpPr/>
          <p:nvPr/>
        </p:nvSpPr>
        <p:spPr>
          <a:xfrm>
            <a:off x="-132540" y="570135"/>
            <a:ext cx="177308" cy="174015"/>
          </a:xfrm>
          <a:prstGeom prst="ellipse">
            <a:avLst/>
          </a:prstGeom>
          <a:solidFill>
            <a:srgbClr val="1C9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A15DCF33-F3BA-6899-E559-4D0B21E1B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027" y="197292"/>
            <a:ext cx="6161999" cy="524159"/>
          </a:xfrm>
        </p:spPr>
        <p:txBody>
          <a:bodyPr/>
          <a:lstStyle/>
          <a:p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SYNTHÈSE DES RÉSULTATS &amp; RECOMMANDATIONS</a:t>
            </a:r>
            <a:endParaRPr lang="fr-FR" sz="8800" b="1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0359FE27-51D0-68FA-1943-9D07CAEF56B1}"/>
              </a:ext>
            </a:extLst>
          </p:cNvPr>
          <p:cNvSpPr/>
          <p:nvPr/>
        </p:nvSpPr>
        <p:spPr>
          <a:xfrm>
            <a:off x="8740592" y="4692191"/>
            <a:ext cx="103020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D7820F94-6AFB-19D5-4BFF-C3E3C34F1203}"/>
              </a:ext>
            </a:extLst>
          </p:cNvPr>
          <p:cNvSpPr/>
          <p:nvPr/>
        </p:nvSpPr>
        <p:spPr>
          <a:xfrm>
            <a:off x="8738468" y="4897674"/>
            <a:ext cx="107267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9CABD59A-2675-0548-27C1-4E1E9B948722}"/>
              </a:ext>
            </a:extLst>
          </p:cNvPr>
          <p:cNvSpPr/>
          <p:nvPr/>
        </p:nvSpPr>
        <p:spPr>
          <a:xfrm>
            <a:off x="297357" y="2810030"/>
            <a:ext cx="107267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D6C9793A-0DCD-59FB-DDCB-8798AB69303A}"/>
              </a:ext>
            </a:extLst>
          </p:cNvPr>
          <p:cNvSpPr/>
          <p:nvPr/>
        </p:nvSpPr>
        <p:spPr>
          <a:xfrm>
            <a:off x="1026524" y="790407"/>
            <a:ext cx="120956" cy="82725"/>
          </a:xfrm>
          <a:prstGeom prst="rightArrow">
            <a:avLst/>
          </a:prstGeom>
          <a:ln>
            <a:solidFill>
              <a:srgbClr val="071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Google Shape;3066;p72">
            <a:extLst>
              <a:ext uri="{FF2B5EF4-FFF2-40B4-BE49-F238E27FC236}">
                <a16:creationId xmlns:a16="http://schemas.microsoft.com/office/drawing/2014/main" id="{2BC61961-4624-9B60-4F51-731B660BFA26}"/>
              </a:ext>
            </a:extLst>
          </p:cNvPr>
          <p:cNvSpPr txBox="1"/>
          <p:nvPr/>
        </p:nvSpPr>
        <p:spPr>
          <a:xfrm>
            <a:off x="1068077" y="616219"/>
            <a:ext cx="2987438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fr" sz="16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Exo SemiBold"/>
                <a:ea typeface="Exo SemiBold"/>
                <a:cs typeface="Exo SemiBold"/>
                <a:sym typeface="Exo SemiBold"/>
              </a:rPr>
              <a:t>S</a:t>
            </a:r>
            <a:r>
              <a:rPr lang="fr" sz="1600" dirty="0">
                <a:solidFill>
                  <a:schemeClr val="dk1"/>
                </a:solidFill>
                <a:highlight>
                  <a:srgbClr val="FFFFFF"/>
                </a:highlight>
                <a:latin typeface="Exo SemiBold"/>
                <a:ea typeface="Exo SemiBold"/>
                <a:cs typeface="Exo SemiBold"/>
                <a:sym typeface="Exo SemiBold"/>
              </a:rPr>
              <a:t>ynthese des resultats clés</a:t>
            </a:r>
            <a:endParaRPr sz="1600" b="0" i="0" u="none" strike="noStrike" cap="none" dirty="0">
              <a:solidFill>
                <a:schemeClr val="dk1"/>
              </a:solidFill>
              <a:latin typeface="Exo SemiBold"/>
              <a:ea typeface="Exo SemiBold"/>
              <a:cs typeface="Exo SemiBold"/>
              <a:sym typeface="Exo SemiBold"/>
            </a:endParaRPr>
          </a:p>
        </p:txBody>
      </p:sp>
      <p:cxnSp>
        <p:nvCxnSpPr>
          <p:cNvPr id="18" name="Google Shape;3097;p72">
            <a:extLst>
              <a:ext uri="{FF2B5EF4-FFF2-40B4-BE49-F238E27FC236}">
                <a16:creationId xmlns:a16="http://schemas.microsoft.com/office/drawing/2014/main" id="{42AD885E-A642-A82F-F629-93CDE347DF35}"/>
              </a:ext>
            </a:extLst>
          </p:cNvPr>
          <p:cNvCxnSpPr>
            <a:cxnSpLocks/>
          </p:cNvCxnSpPr>
          <p:nvPr/>
        </p:nvCxnSpPr>
        <p:spPr>
          <a:xfrm>
            <a:off x="1724540" y="1539143"/>
            <a:ext cx="993311" cy="139"/>
          </a:xfrm>
          <a:prstGeom prst="straightConnector1">
            <a:avLst/>
          </a:prstGeom>
          <a:noFill/>
          <a:ln w="19050" cap="flat" cmpd="sng">
            <a:solidFill>
              <a:srgbClr val="C6920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" name="Google Shape;3103;p72">
            <a:extLst>
              <a:ext uri="{FF2B5EF4-FFF2-40B4-BE49-F238E27FC236}">
                <a16:creationId xmlns:a16="http://schemas.microsoft.com/office/drawing/2014/main" id="{DA11BADE-D696-BECB-4623-D3B2E31C04C2}"/>
              </a:ext>
            </a:extLst>
          </p:cNvPr>
          <p:cNvCxnSpPr>
            <a:cxnSpLocks/>
          </p:cNvCxnSpPr>
          <p:nvPr/>
        </p:nvCxnSpPr>
        <p:spPr>
          <a:xfrm>
            <a:off x="3711209" y="1528149"/>
            <a:ext cx="1008275" cy="0"/>
          </a:xfrm>
          <a:prstGeom prst="straightConnector1">
            <a:avLst/>
          </a:prstGeom>
          <a:noFill/>
          <a:ln w="19050" cap="flat" cmpd="sng">
            <a:solidFill>
              <a:srgbClr val="C6920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" name="Google Shape;3104;p72">
            <a:extLst>
              <a:ext uri="{FF2B5EF4-FFF2-40B4-BE49-F238E27FC236}">
                <a16:creationId xmlns:a16="http://schemas.microsoft.com/office/drawing/2014/main" id="{AA7F8B4E-B3F6-ACE9-EF2E-2868696C5DE6}"/>
              </a:ext>
            </a:extLst>
          </p:cNvPr>
          <p:cNvCxnSpPr>
            <a:cxnSpLocks/>
          </p:cNvCxnSpPr>
          <p:nvPr/>
        </p:nvCxnSpPr>
        <p:spPr>
          <a:xfrm>
            <a:off x="6198631" y="1567815"/>
            <a:ext cx="34269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3070;p72">
            <a:extLst>
              <a:ext uri="{FF2B5EF4-FFF2-40B4-BE49-F238E27FC236}">
                <a16:creationId xmlns:a16="http://schemas.microsoft.com/office/drawing/2014/main" id="{3BFC2434-84DB-9644-5DC1-A61EAF80F5BC}"/>
              </a:ext>
            </a:extLst>
          </p:cNvPr>
          <p:cNvSpPr/>
          <p:nvPr/>
        </p:nvSpPr>
        <p:spPr>
          <a:xfrm>
            <a:off x="838373" y="1223309"/>
            <a:ext cx="527840" cy="520871"/>
          </a:xfrm>
          <a:prstGeom prst="ellipse">
            <a:avLst/>
          </a:prstGeom>
          <a:solidFill>
            <a:srgbClr val="C692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070;p72">
            <a:extLst>
              <a:ext uri="{FF2B5EF4-FFF2-40B4-BE49-F238E27FC236}">
                <a16:creationId xmlns:a16="http://schemas.microsoft.com/office/drawing/2014/main" id="{D50AE857-E194-59BC-9E42-475D475B8C54}"/>
              </a:ext>
            </a:extLst>
          </p:cNvPr>
          <p:cNvSpPr/>
          <p:nvPr/>
        </p:nvSpPr>
        <p:spPr>
          <a:xfrm>
            <a:off x="2936697" y="1199271"/>
            <a:ext cx="587767" cy="559544"/>
          </a:xfrm>
          <a:prstGeom prst="ellipse">
            <a:avLst/>
          </a:prstGeom>
          <a:solidFill>
            <a:srgbClr val="C692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070;p72">
            <a:extLst>
              <a:ext uri="{FF2B5EF4-FFF2-40B4-BE49-F238E27FC236}">
                <a16:creationId xmlns:a16="http://schemas.microsoft.com/office/drawing/2014/main" id="{CEDBBFE2-1359-EB0A-555E-7837B7CF3C2D}"/>
              </a:ext>
            </a:extLst>
          </p:cNvPr>
          <p:cNvSpPr/>
          <p:nvPr/>
        </p:nvSpPr>
        <p:spPr>
          <a:xfrm>
            <a:off x="4878009" y="1127067"/>
            <a:ext cx="633976" cy="657541"/>
          </a:xfrm>
          <a:prstGeom prst="ellipse">
            <a:avLst/>
          </a:prstGeom>
          <a:solidFill>
            <a:srgbClr val="C692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dirty="0"/>
              <a:t>03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070;p72">
            <a:extLst>
              <a:ext uri="{FF2B5EF4-FFF2-40B4-BE49-F238E27FC236}">
                <a16:creationId xmlns:a16="http://schemas.microsoft.com/office/drawing/2014/main" id="{4F62F4B3-7A96-CFA4-7AAF-742BC5422B6C}"/>
              </a:ext>
            </a:extLst>
          </p:cNvPr>
          <p:cNvSpPr/>
          <p:nvPr/>
        </p:nvSpPr>
        <p:spPr>
          <a:xfrm>
            <a:off x="6972217" y="1068688"/>
            <a:ext cx="659525" cy="681534"/>
          </a:xfrm>
          <a:prstGeom prst="ellipse">
            <a:avLst/>
          </a:prstGeom>
          <a:solidFill>
            <a:srgbClr val="C692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dirty="0"/>
              <a:t>04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" name="Google Shape;3103;p72">
            <a:extLst>
              <a:ext uri="{FF2B5EF4-FFF2-40B4-BE49-F238E27FC236}">
                <a16:creationId xmlns:a16="http://schemas.microsoft.com/office/drawing/2014/main" id="{4CF07C68-A489-F657-7A53-C615939A56E0}"/>
              </a:ext>
            </a:extLst>
          </p:cNvPr>
          <p:cNvCxnSpPr>
            <a:cxnSpLocks/>
          </p:cNvCxnSpPr>
          <p:nvPr/>
        </p:nvCxnSpPr>
        <p:spPr>
          <a:xfrm flipV="1">
            <a:off x="5779452" y="1479043"/>
            <a:ext cx="1030346" cy="10853"/>
          </a:xfrm>
          <a:prstGeom prst="straightConnector1">
            <a:avLst/>
          </a:prstGeom>
          <a:noFill/>
          <a:ln w="19050" cap="flat" cmpd="sng">
            <a:solidFill>
              <a:srgbClr val="C6920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089;p72">
            <a:extLst>
              <a:ext uri="{FF2B5EF4-FFF2-40B4-BE49-F238E27FC236}">
                <a16:creationId xmlns:a16="http://schemas.microsoft.com/office/drawing/2014/main" id="{804708F5-BE93-849D-C5BE-E863F1B986BD}"/>
              </a:ext>
            </a:extLst>
          </p:cNvPr>
          <p:cNvSpPr txBox="1"/>
          <p:nvPr/>
        </p:nvSpPr>
        <p:spPr>
          <a:xfrm>
            <a:off x="0" y="1877635"/>
            <a:ext cx="2204587" cy="67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buClr>
                <a:schemeClr val="dk1"/>
              </a:buClr>
              <a:buSzPts val="3000"/>
            </a:pPr>
            <a:r>
              <a:rPr lang="fr-FR" dirty="0"/>
              <a:t>Ventes en croissance mais avec une </a:t>
            </a:r>
            <a:r>
              <a:rPr lang="fr-FR" b="1" dirty="0"/>
              <a:t>forte saisonnalité</a:t>
            </a:r>
            <a:r>
              <a:rPr lang="fr-FR" dirty="0"/>
              <a:t>.</a:t>
            </a:r>
            <a:endParaRPr dirty="0"/>
          </a:p>
        </p:txBody>
      </p:sp>
      <p:sp>
        <p:nvSpPr>
          <p:cNvPr id="38" name="Google Shape;3089;p72">
            <a:extLst>
              <a:ext uri="{FF2B5EF4-FFF2-40B4-BE49-F238E27FC236}">
                <a16:creationId xmlns:a16="http://schemas.microsoft.com/office/drawing/2014/main" id="{EA700867-2E92-6CD0-3483-550986E49BBD}"/>
              </a:ext>
            </a:extLst>
          </p:cNvPr>
          <p:cNvSpPr txBox="1"/>
          <p:nvPr/>
        </p:nvSpPr>
        <p:spPr>
          <a:xfrm>
            <a:off x="2077659" y="1877635"/>
            <a:ext cx="2204587" cy="67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buClr>
                <a:schemeClr val="dk1"/>
              </a:buClr>
              <a:buSzPts val="3000"/>
            </a:pPr>
            <a:r>
              <a:rPr lang="fr-FR" dirty="0"/>
              <a:t>Les clients du segment </a:t>
            </a:r>
            <a:r>
              <a:rPr lang="fr-FR" b="1" dirty="0"/>
              <a:t>Entreprise et Bureau </a:t>
            </a:r>
            <a:r>
              <a:rPr lang="fr-FR" dirty="0"/>
              <a:t>sont les plus rentables</a:t>
            </a:r>
            <a:endParaRPr dirty="0"/>
          </a:p>
        </p:txBody>
      </p:sp>
      <p:sp>
        <p:nvSpPr>
          <p:cNvPr id="39" name="Google Shape;3089;p72">
            <a:extLst>
              <a:ext uri="{FF2B5EF4-FFF2-40B4-BE49-F238E27FC236}">
                <a16:creationId xmlns:a16="http://schemas.microsoft.com/office/drawing/2014/main" id="{51BC207F-F547-FE64-6295-4279589E1602}"/>
              </a:ext>
            </a:extLst>
          </p:cNvPr>
          <p:cNvSpPr txBox="1"/>
          <p:nvPr/>
        </p:nvSpPr>
        <p:spPr>
          <a:xfrm>
            <a:off x="4154667" y="1895760"/>
            <a:ext cx="2204587" cy="67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buClr>
                <a:schemeClr val="dk1"/>
              </a:buClr>
              <a:buSzPts val="3000"/>
            </a:pPr>
            <a:r>
              <a:rPr lang="fr-FR" dirty="0"/>
              <a:t>Certaines</a:t>
            </a:r>
            <a:r>
              <a:rPr lang="fr-FR" b="1" dirty="0"/>
              <a:t> régions </a:t>
            </a:r>
            <a:r>
              <a:rPr lang="fr-FR" dirty="0"/>
              <a:t>sont sous-exploitées et offrent des opportunités.</a:t>
            </a:r>
            <a:endParaRPr dirty="0"/>
          </a:p>
        </p:txBody>
      </p:sp>
      <p:sp>
        <p:nvSpPr>
          <p:cNvPr id="41" name="Google Shape;3089;p72">
            <a:extLst>
              <a:ext uri="{FF2B5EF4-FFF2-40B4-BE49-F238E27FC236}">
                <a16:creationId xmlns:a16="http://schemas.microsoft.com/office/drawing/2014/main" id="{FDFC1DA9-2488-4E0F-5814-5DC64422CEDB}"/>
              </a:ext>
            </a:extLst>
          </p:cNvPr>
          <p:cNvSpPr txBox="1"/>
          <p:nvPr/>
        </p:nvSpPr>
        <p:spPr>
          <a:xfrm>
            <a:off x="6336752" y="1863056"/>
            <a:ext cx="1930453" cy="67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buClr>
                <a:schemeClr val="dk1"/>
              </a:buClr>
              <a:buSzPts val="3000"/>
            </a:pPr>
            <a:r>
              <a:rPr lang="fr-FR" dirty="0"/>
              <a:t>Des ajustements sont nécessaires pour optimiser les marges.</a:t>
            </a:r>
            <a:endParaRPr dirty="0"/>
          </a:p>
        </p:txBody>
      </p:sp>
      <p:sp>
        <p:nvSpPr>
          <p:cNvPr id="45" name="Flèche : droite 44">
            <a:extLst>
              <a:ext uri="{FF2B5EF4-FFF2-40B4-BE49-F238E27FC236}">
                <a16:creationId xmlns:a16="http://schemas.microsoft.com/office/drawing/2014/main" id="{9CD58FAB-6C1F-C333-6965-94EAD7BDD256}"/>
              </a:ext>
            </a:extLst>
          </p:cNvPr>
          <p:cNvSpPr/>
          <p:nvPr/>
        </p:nvSpPr>
        <p:spPr>
          <a:xfrm>
            <a:off x="1007599" y="3117948"/>
            <a:ext cx="120956" cy="82725"/>
          </a:xfrm>
          <a:prstGeom prst="rightArrow">
            <a:avLst/>
          </a:prstGeom>
          <a:ln>
            <a:solidFill>
              <a:srgbClr val="071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Google Shape;3066;p72">
            <a:extLst>
              <a:ext uri="{FF2B5EF4-FFF2-40B4-BE49-F238E27FC236}">
                <a16:creationId xmlns:a16="http://schemas.microsoft.com/office/drawing/2014/main" id="{FB042780-3E5F-46E8-BB00-37F6E0F9A89D}"/>
              </a:ext>
            </a:extLst>
          </p:cNvPr>
          <p:cNvSpPr txBox="1"/>
          <p:nvPr/>
        </p:nvSpPr>
        <p:spPr>
          <a:xfrm>
            <a:off x="1026524" y="2974470"/>
            <a:ext cx="372263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fr" sz="16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Exo SemiBold"/>
                <a:ea typeface="Exo SemiBold"/>
                <a:cs typeface="Exo SemiBold"/>
                <a:sym typeface="Exo SemiBold"/>
              </a:rPr>
              <a:t>Recommandations Stratégieques</a:t>
            </a:r>
            <a:endParaRPr sz="1600" b="0" i="0" u="none" strike="noStrike" cap="none" dirty="0">
              <a:solidFill>
                <a:schemeClr val="dk1"/>
              </a:solidFill>
              <a:latin typeface="Exo SemiBold"/>
              <a:ea typeface="Exo SemiBold"/>
              <a:cs typeface="Exo SemiBold"/>
              <a:sym typeface="Exo SemiBold"/>
            </a:endParaRPr>
          </a:p>
        </p:txBody>
      </p:sp>
      <p:cxnSp>
        <p:nvCxnSpPr>
          <p:cNvPr id="47" name="Google Shape;3097;p72">
            <a:extLst>
              <a:ext uri="{FF2B5EF4-FFF2-40B4-BE49-F238E27FC236}">
                <a16:creationId xmlns:a16="http://schemas.microsoft.com/office/drawing/2014/main" id="{D27DE141-913A-332E-B991-9126267D851F}"/>
              </a:ext>
            </a:extLst>
          </p:cNvPr>
          <p:cNvCxnSpPr>
            <a:cxnSpLocks/>
          </p:cNvCxnSpPr>
          <p:nvPr/>
        </p:nvCxnSpPr>
        <p:spPr>
          <a:xfrm>
            <a:off x="2677750" y="3925205"/>
            <a:ext cx="993311" cy="139"/>
          </a:xfrm>
          <a:prstGeom prst="straightConnector1">
            <a:avLst/>
          </a:prstGeom>
          <a:noFill/>
          <a:ln w="19050" cap="flat" cmpd="sng">
            <a:solidFill>
              <a:srgbClr val="C6920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" name="Google Shape;3103;p72">
            <a:extLst>
              <a:ext uri="{FF2B5EF4-FFF2-40B4-BE49-F238E27FC236}">
                <a16:creationId xmlns:a16="http://schemas.microsoft.com/office/drawing/2014/main" id="{AA65D2AC-8EA3-7572-3624-2F048A1AD760}"/>
              </a:ext>
            </a:extLst>
          </p:cNvPr>
          <p:cNvCxnSpPr>
            <a:cxnSpLocks/>
          </p:cNvCxnSpPr>
          <p:nvPr/>
        </p:nvCxnSpPr>
        <p:spPr>
          <a:xfrm>
            <a:off x="4664419" y="3914211"/>
            <a:ext cx="1008275" cy="0"/>
          </a:xfrm>
          <a:prstGeom prst="straightConnector1">
            <a:avLst/>
          </a:prstGeom>
          <a:noFill/>
          <a:ln w="19050" cap="flat" cmpd="sng">
            <a:solidFill>
              <a:srgbClr val="C6920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" name="Google Shape;3070;p72">
            <a:extLst>
              <a:ext uri="{FF2B5EF4-FFF2-40B4-BE49-F238E27FC236}">
                <a16:creationId xmlns:a16="http://schemas.microsoft.com/office/drawing/2014/main" id="{6E5CBC5F-254B-1B8D-6773-831C2ED12808}"/>
              </a:ext>
            </a:extLst>
          </p:cNvPr>
          <p:cNvSpPr/>
          <p:nvPr/>
        </p:nvSpPr>
        <p:spPr>
          <a:xfrm>
            <a:off x="1791583" y="3609371"/>
            <a:ext cx="527840" cy="520871"/>
          </a:xfrm>
          <a:prstGeom prst="ellipse">
            <a:avLst/>
          </a:prstGeom>
          <a:solidFill>
            <a:srgbClr val="C692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3070;p72">
            <a:extLst>
              <a:ext uri="{FF2B5EF4-FFF2-40B4-BE49-F238E27FC236}">
                <a16:creationId xmlns:a16="http://schemas.microsoft.com/office/drawing/2014/main" id="{F28A3037-88F1-F588-7D86-F48BC7D8663A}"/>
              </a:ext>
            </a:extLst>
          </p:cNvPr>
          <p:cNvSpPr/>
          <p:nvPr/>
        </p:nvSpPr>
        <p:spPr>
          <a:xfrm>
            <a:off x="3889907" y="3585333"/>
            <a:ext cx="587767" cy="559544"/>
          </a:xfrm>
          <a:prstGeom prst="ellipse">
            <a:avLst/>
          </a:prstGeom>
          <a:solidFill>
            <a:srgbClr val="C692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3070;p72">
            <a:extLst>
              <a:ext uri="{FF2B5EF4-FFF2-40B4-BE49-F238E27FC236}">
                <a16:creationId xmlns:a16="http://schemas.microsoft.com/office/drawing/2014/main" id="{4E066BAD-F91B-CD53-6C4C-34F26563A42C}"/>
              </a:ext>
            </a:extLst>
          </p:cNvPr>
          <p:cNvSpPr/>
          <p:nvPr/>
        </p:nvSpPr>
        <p:spPr>
          <a:xfrm>
            <a:off x="5831219" y="3513129"/>
            <a:ext cx="633976" cy="657541"/>
          </a:xfrm>
          <a:prstGeom prst="ellipse">
            <a:avLst/>
          </a:prstGeom>
          <a:solidFill>
            <a:srgbClr val="C692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dirty="0"/>
              <a:t>03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3089;p72">
            <a:extLst>
              <a:ext uri="{FF2B5EF4-FFF2-40B4-BE49-F238E27FC236}">
                <a16:creationId xmlns:a16="http://schemas.microsoft.com/office/drawing/2014/main" id="{28711C88-7765-B9A3-1355-A99D5FA503FA}"/>
              </a:ext>
            </a:extLst>
          </p:cNvPr>
          <p:cNvSpPr txBox="1"/>
          <p:nvPr/>
        </p:nvSpPr>
        <p:spPr>
          <a:xfrm>
            <a:off x="867214" y="4269772"/>
            <a:ext cx="2204587" cy="67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buClr>
                <a:schemeClr val="dk1"/>
              </a:buClr>
              <a:buSzPts val="3000"/>
            </a:pPr>
            <a:r>
              <a:rPr lang="fr-FR" b="1" dirty="0">
                <a:latin typeface="Arial" panose="020B0604020202020204" pitchFamily="34" charset="0"/>
              </a:rPr>
              <a:t>Optimisation des prix</a:t>
            </a:r>
            <a:r>
              <a:rPr lang="fr-FR" dirty="0">
                <a:latin typeface="Arial" panose="020B0604020202020204" pitchFamily="34" charset="0"/>
              </a:rPr>
              <a:t> pour améliorer les marges.</a:t>
            </a:r>
            <a:endParaRPr dirty="0"/>
          </a:p>
        </p:txBody>
      </p:sp>
      <p:sp>
        <p:nvSpPr>
          <p:cNvPr id="53" name="Google Shape;3089;p72">
            <a:extLst>
              <a:ext uri="{FF2B5EF4-FFF2-40B4-BE49-F238E27FC236}">
                <a16:creationId xmlns:a16="http://schemas.microsoft.com/office/drawing/2014/main" id="{B81D4366-308D-E612-8524-55283D3BF84F}"/>
              </a:ext>
            </a:extLst>
          </p:cNvPr>
          <p:cNvSpPr txBox="1"/>
          <p:nvPr/>
        </p:nvSpPr>
        <p:spPr>
          <a:xfrm>
            <a:off x="3081496" y="4274223"/>
            <a:ext cx="2204587" cy="67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fontAlgn="base">
              <a:spcAft>
                <a:spcPts val="300"/>
              </a:spcAft>
            </a:pPr>
            <a:r>
              <a:rPr lang="fr-FR" b="1" dirty="0">
                <a:latin typeface="Arial" panose="020B0604020202020204" pitchFamily="34" charset="0"/>
              </a:rPr>
              <a:t>Campagnes marketing ciblées</a:t>
            </a:r>
            <a:r>
              <a:rPr lang="fr-FR" dirty="0">
                <a:latin typeface="Arial" panose="020B0604020202020204" pitchFamily="34" charset="0"/>
              </a:rPr>
              <a:t> pour fidéliser les clients.</a:t>
            </a:r>
          </a:p>
        </p:txBody>
      </p:sp>
      <p:sp>
        <p:nvSpPr>
          <p:cNvPr id="54" name="Google Shape;3089;p72">
            <a:extLst>
              <a:ext uri="{FF2B5EF4-FFF2-40B4-BE49-F238E27FC236}">
                <a16:creationId xmlns:a16="http://schemas.microsoft.com/office/drawing/2014/main" id="{BA0B352D-EF79-1B25-E527-6849A03E7C3C}"/>
              </a:ext>
            </a:extLst>
          </p:cNvPr>
          <p:cNvSpPr txBox="1"/>
          <p:nvPr/>
        </p:nvSpPr>
        <p:spPr>
          <a:xfrm>
            <a:off x="5434934" y="4192965"/>
            <a:ext cx="2226071" cy="752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fontAlgn="base">
              <a:spcAft>
                <a:spcPts val="300"/>
              </a:spcAft>
            </a:pPr>
            <a:r>
              <a:rPr lang="fr-FR" b="1" dirty="0">
                <a:latin typeface="Arial" panose="020B0604020202020204" pitchFamily="34" charset="0"/>
              </a:rPr>
              <a:t>Expansion vers les régions sous-exploitées </a:t>
            </a:r>
            <a:r>
              <a:rPr lang="fr-FR" dirty="0">
                <a:latin typeface="Arial" panose="020B0604020202020204" pitchFamily="34" charset="0"/>
              </a:rPr>
              <a:t>( Sud).</a:t>
            </a:r>
            <a:endParaRPr lang="fr-FR" sz="11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320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8" grpId="0"/>
      <p:bldP spid="39" grpId="0"/>
      <p:bldP spid="41" grpId="0"/>
      <p:bldP spid="52" grpId="0"/>
      <p:bldP spid="53" grpId="0"/>
      <p:bldP spid="5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6">
          <a:extLst>
            <a:ext uri="{FF2B5EF4-FFF2-40B4-BE49-F238E27FC236}">
              <a16:creationId xmlns:a16="http://schemas.microsoft.com/office/drawing/2014/main" id="{5506E008-2CCE-BDDC-0894-7571A0327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42">
            <a:extLst>
              <a:ext uri="{FF2B5EF4-FFF2-40B4-BE49-F238E27FC236}">
                <a16:creationId xmlns:a16="http://schemas.microsoft.com/office/drawing/2014/main" id="{0D767523-9794-346E-5256-7341F1FE6B22}"/>
              </a:ext>
            </a:extLst>
          </p:cNvPr>
          <p:cNvSpPr txBox="1"/>
          <p:nvPr/>
        </p:nvSpPr>
        <p:spPr>
          <a:xfrm>
            <a:off x="4786604" y="3580417"/>
            <a:ext cx="10213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23 Jours</a:t>
            </a:r>
            <a:endParaRPr/>
          </a:p>
        </p:txBody>
      </p:sp>
      <p:sp>
        <p:nvSpPr>
          <p:cNvPr id="2333" name="Google Shape;2333;p42">
            <a:extLst>
              <a:ext uri="{FF2B5EF4-FFF2-40B4-BE49-F238E27FC236}">
                <a16:creationId xmlns:a16="http://schemas.microsoft.com/office/drawing/2014/main" id="{2BE1314A-15A3-E934-6B4C-DDBA8DF9F5C0}"/>
              </a:ext>
            </a:extLst>
          </p:cNvPr>
          <p:cNvSpPr txBox="1"/>
          <p:nvPr/>
        </p:nvSpPr>
        <p:spPr>
          <a:xfrm>
            <a:off x="4077615" y="4131273"/>
            <a:ext cx="10213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97 Jours</a:t>
            </a:r>
            <a:endParaRPr/>
          </a:p>
        </p:txBody>
      </p:sp>
      <p:sp>
        <p:nvSpPr>
          <p:cNvPr id="2342" name="Google Shape;2342;p42">
            <a:extLst>
              <a:ext uri="{FF2B5EF4-FFF2-40B4-BE49-F238E27FC236}">
                <a16:creationId xmlns:a16="http://schemas.microsoft.com/office/drawing/2014/main" id="{C2955D69-AEEA-6C34-4B80-329F80E382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51055F25-922F-C8FE-A38A-EB0D0711756F}"/>
              </a:ext>
            </a:extLst>
          </p:cNvPr>
          <p:cNvSpPr/>
          <p:nvPr/>
        </p:nvSpPr>
        <p:spPr>
          <a:xfrm>
            <a:off x="7867792" y="-1407883"/>
            <a:ext cx="2132602" cy="2110664"/>
          </a:xfrm>
          <a:prstGeom prst="ellipse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8ECFB8C8-C5CF-1CDE-F89D-1791247391D4}"/>
              </a:ext>
            </a:extLst>
          </p:cNvPr>
          <p:cNvSpPr/>
          <p:nvPr/>
        </p:nvSpPr>
        <p:spPr>
          <a:xfrm>
            <a:off x="8701344" y="737519"/>
            <a:ext cx="232749" cy="229388"/>
          </a:xfrm>
          <a:prstGeom prst="ellipse">
            <a:avLst/>
          </a:prstGeom>
          <a:solidFill>
            <a:srgbClr val="1C9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BFE0A07A-D223-7CD3-07A3-F5E1D5A67EAB}"/>
              </a:ext>
            </a:extLst>
          </p:cNvPr>
          <p:cNvSpPr/>
          <p:nvPr/>
        </p:nvSpPr>
        <p:spPr>
          <a:xfrm>
            <a:off x="7770409" y="142243"/>
            <a:ext cx="177308" cy="174015"/>
          </a:xfrm>
          <a:prstGeom prst="ellipse">
            <a:avLst/>
          </a:prstGeom>
          <a:solidFill>
            <a:srgbClr val="1C9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26BAC3-407A-D01C-44A7-7EE41C615458}"/>
              </a:ext>
            </a:extLst>
          </p:cNvPr>
          <p:cNvSpPr/>
          <p:nvPr/>
        </p:nvSpPr>
        <p:spPr>
          <a:xfrm>
            <a:off x="-34322" y="-61472"/>
            <a:ext cx="825023" cy="5266443"/>
          </a:xfrm>
          <a:prstGeom prst="rect">
            <a:avLst/>
          </a:prstGeom>
          <a:solidFill>
            <a:srgbClr val="0716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71637"/>
              </a:solidFill>
            </a:endParaRP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4E96368A-741D-0A46-8470-447E0B73E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117" y="408958"/>
            <a:ext cx="3440129" cy="638085"/>
          </a:xfrm>
        </p:spPr>
        <p:txBody>
          <a:bodyPr/>
          <a:lstStyle/>
          <a:p>
            <a:r>
              <a:rPr lang="fr-FR" sz="3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fr-FR" sz="3200" b="1" dirty="0">
                <a:solidFill>
                  <a:srgbClr val="000000"/>
                </a:solidFill>
                <a:latin typeface="Arial" panose="020B0604020202020204" pitchFamily="34" charset="0"/>
              </a:rPr>
              <a:t>CONCLUSION</a:t>
            </a:r>
            <a:endParaRPr lang="fr-FR" sz="7200" b="1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14AF4FDD-A78E-6561-B30C-46948C72E4BC}"/>
              </a:ext>
            </a:extLst>
          </p:cNvPr>
          <p:cNvSpPr/>
          <p:nvPr/>
        </p:nvSpPr>
        <p:spPr>
          <a:xfrm>
            <a:off x="206363" y="4953799"/>
            <a:ext cx="103020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CE4F94D0-EDDA-9EF7-70A7-F21F99BE6C51}"/>
              </a:ext>
            </a:extLst>
          </p:cNvPr>
          <p:cNvSpPr/>
          <p:nvPr/>
        </p:nvSpPr>
        <p:spPr>
          <a:xfrm>
            <a:off x="206363" y="4702627"/>
            <a:ext cx="103020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itre 5">
            <a:extLst>
              <a:ext uri="{FF2B5EF4-FFF2-40B4-BE49-F238E27FC236}">
                <a16:creationId xmlns:a16="http://schemas.microsoft.com/office/drawing/2014/main" id="{450ED327-C9BE-091B-3451-98067C491C2E}"/>
              </a:ext>
            </a:extLst>
          </p:cNvPr>
          <p:cNvSpPr txBox="1">
            <a:spLocks/>
          </p:cNvSpPr>
          <p:nvPr/>
        </p:nvSpPr>
        <p:spPr>
          <a:xfrm>
            <a:off x="1166983" y="1084427"/>
            <a:ext cx="7534361" cy="3046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Black"/>
              <a:buNone/>
              <a:defRPr sz="3000" b="0" i="0" u="none" strike="noStrike" cap="none">
                <a:solidFill>
                  <a:schemeClr val="dk1"/>
                </a:solidFill>
                <a:latin typeface="Exo Black"/>
                <a:ea typeface="Exo Black"/>
                <a:cs typeface="Exo Black"/>
                <a:sym typeface="Ex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algn="l" rtl="0">
              <a:spcBef>
                <a:spcPts val="1200"/>
              </a:spcBef>
              <a:spcAft>
                <a:spcPts val="1200"/>
              </a:spcAft>
            </a:pP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 projet </a:t>
            </a:r>
            <a:r>
              <a:rPr lang="fr-FR" sz="1600" b="1" i="0" u="none" strike="noStrike" dirty="0">
                <a:solidFill>
                  <a:srgbClr val="C69206"/>
                </a:solidFill>
                <a:effectLst/>
                <a:latin typeface="Arial" panose="020B0604020202020204" pitchFamily="34" charset="0"/>
              </a:rPr>
              <a:t>OPTIVENTES 360</a:t>
            </a:r>
            <a:r>
              <a:rPr lang="fr-FR" sz="1600" b="0" i="0" u="none" strike="noStrike" dirty="0">
                <a:solidFill>
                  <a:srgbClr val="C69206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permis d’exploiter les données de ventes et de rentabilité avec </a:t>
            </a:r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Power BI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pour optimiser les performances commerciales.     Cette analyse a mis en évidence des tendances clés, améliorant ainsi la prise   de décision.</a:t>
            </a:r>
            <a:endParaRPr lang="fr-FR" sz="1000" b="0" dirty="0">
              <a:effectLst/>
            </a:endParaRPr>
          </a:p>
          <a:p>
            <a:pPr algn="l" rtl="0">
              <a:spcBef>
                <a:spcPts val="1200"/>
              </a:spcBef>
              <a:spcAft>
                <a:spcPts val="1200"/>
              </a:spcAft>
            </a:pP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Ce projet démontre que l’</a:t>
            </a:r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analyse des données est un levier stratégique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pour maximiser la rentabilité et mieux comprendre le marché. Il souligne aussi l’importance d’une </a:t>
            </a:r>
            <a:r>
              <a:rPr lang="fr-FR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culture</a:t>
            </a:r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data-</a:t>
            </a:r>
            <a:r>
              <a:rPr lang="fr-FR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driven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au sein des entreprises pour une gestion plus efficace et orientée résultats.</a:t>
            </a:r>
            <a:endParaRPr lang="fr-FR" sz="1000" b="0" dirty="0">
              <a:effectLst/>
            </a:endParaRPr>
          </a:p>
          <a:p>
            <a:pPr algn="l"/>
            <a:br>
              <a:rPr lang="fr-FR" sz="1000" dirty="0"/>
            </a:br>
            <a:endParaRPr lang="fr-FR" sz="14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529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6">
          <a:extLst>
            <a:ext uri="{FF2B5EF4-FFF2-40B4-BE49-F238E27FC236}">
              <a16:creationId xmlns:a16="http://schemas.microsoft.com/office/drawing/2014/main" id="{4431C465-32CD-960A-7434-50BAF55B2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42">
            <a:extLst>
              <a:ext uri="{FF2B5EF4-FFF2-40B4-BE49-F238E27FC236}">
                <a16:creationId xmlns:a16="http://schemas.microsoft.com/office/drawing/2014/main" id="{5F78A78A-2181-872C-D64B-5463C0B986D6}"/>
              </a:ext>
            </a:extLst>
          </p:cNvPr>
          <p:cNvSpPr txBox="1"/>
          <p:nvPr/>
        </p:nvSpPr>
        <p:spPr>
          <a:xfrm>
            <a:off x="4755472" y="3716308"/>
            <a:ext cx="10213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0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23 Jours</a:t>
            </a:r>
            <a:endParaRPr dirty="0"/>
          </a:p>
        </p:txBody>
      </p:sp>
      <p:sp>
        <p:nvSpPr>
          <p:cNvPr id="2333" name="Google Shape;2333;p42">
            <a:extLst>
              <a:ext uri="{FF2B5EF4-FFF2-40B4-BE49-F238E27FC236}">
                <a16:creationId xmlns:a16="http://schemas.microsoft.com/office/drawing/2014/main" id="{E2FE2920-FFB1-1989-DFCE-B95C5657319A}"/>
              </a:ext>
            </a:extLst>
          </p:cNvPr>
          <p:cNvSpPr txBox="1"/>
          <p:nvPr/>
        </p:nvSpPr>
        <p:spPr>
          <a:xfrm>
            <a:off x="4077615" y="4131273"/>
            <a:ext cx="10213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97 Jours</a:t>
            </a:r>
            <a:endParaRPr/>
          </a:p>
        </p:txBody>
      </p:sp>
      <p:sp>
        <p:nvSpPr>
          <p:cNvPr id="2342" name="Google Shape;2342;p42">
            <a:extLst>
              <a:ext uri="{FF2B5EF4-FFF2-40B4-BE49-F238E27FC236}">
                <a16:creationId xmlns:a16="http://schemas.microsoft.com/office/drawing/2014/main" id="{BF83634E-D6CE-81C1-57B6-7432C7F6B5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7B1223F-DC96-7BA0-D231-014AC151D0B0}"/>
              </a:ext>
            </a:extLst>
          </p:cNvPr>
          <p:cNvSpPr/>
          <p:nvPr/>
        </p:nvSpPr>
        <p:spPr>
          <a:xfrm>
            <a:off x="7867792" y="-1407883"/>
            <a:ext cx="2132602" cy="2110664"/>
          </a:xfrm>
          <a:prstGeom prst="ellipse">
            <a:avLst/>
          </a:prstGeom>
          <a:solidFill>
            <a:srgbClr val="C69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C69206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6C7470B-361F-DFCE-0DC2-0684D63A3297}"/>
              </a:ext>
            </a:extLst>
          </p:cNvPr>
          <p:cNvSpPr/>
          <p:nvPr/>
        </p:nvSpPr>
        <p:spPr>
          <a:xfrm>
            <a:off x="8701344" y="737519"/>
            <a:ext cx="232749" cy="229388"/>
          </a:xfrm>
          <a:prstGeom prst="ellipse">
            <a:avLst/>
          </a:prstGeom>
          <a:solidFill>
            <a:srgbClr val="1C9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D7115B71-32CE-FC8C-B61E-6DC44A928BCE}"/>
              </a:ext>
            </a:extLst>
          </p:cNvPr>
          <p:cNvSpPr/>
          <p:nvPr/>
        </p:nvSpPr>
        <p:spPr>
          <a:xfrm>
            <a:off x="7770409" y="142243"/>
            <a:ext cx="177308" cy="174015"/>
          </a:xfrm>
          <a:prstGeom prst="ellipse">
            <a:avLst/>
          </a:prstGeom>
          <a:solidFill>
            <a:srgbClr val="1C9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AC029D-4415-2AB6-AB70-189F256BCD0B}"/>
              </a:ext>
            </a:extLst>
          </p:cNvPr>
          <p:cNvSpPr/>
          <p:nvPr/>
        </p:nvSpPr>
        <p:spPr>
          <a:xfrm>
            <a:off x="-34322" y="-61472"/>
            <a:ext cx="825023" cy="5266443"/>
          </a:xfrm>
          <a:prstGeom prst="rect">
            <a:avLst/>
          </a:prstGeom>
          <a:solidFill>
            <a:srgbClr val="0716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71637"/>
              </a:solidFill>
            </a:endParaRP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1D2764A2-9BAC-FF5A-951E-B9C06D095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251" y="75997"/>
            <a:ext cx="3252019" cy="638085"/>
          </a:xfrm>
        </p:spPr>
        <p:txBody>
          <a:bodyPr/>
          <a:lstStyle/>
          <a:p>
            <a:r>
              <a:rPr lang="fr-FR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REMERCIEMENTS</a:t>
            </a:r>
            <a:endParaRPr lang="fr-FR" sz="6000" b="1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9A08B5D-EE43-8FC4-FC61-96B93EC1266E}"/>
              </a:ext>
            </a:extLst>
          </p:cNvPr>
          <p:cNvSpPr/>
          <p:nvPr/>
        </p:nvSpPr>
        <p:spPr>
          <a:xfrm>
            <a:off x="206363" y="4953799"/>
            <a:ext cx="103020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E5A8441B-DC3C-E949-47B7-793513D6E019}"/>
              </a:ext>
            </a:extLst>
          </p:cNvPr>
          <p:cNvSpPr/>
          <p:nvPr/>
        </p:nvSpPr>
        <p:spPr>
          <a:xfrm>
            <a:off x="206363" y="4702627"/>
            <a:ext cx="103020" cy="106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Arc plein 1">
            <a:extLst>
              <a:ext uri="{FF2B5EF4-FFF2-40B4-BE49-F238E27FC236}">
                <a16:creationId xmlns:a16="http://schemas.microsoft.com/office/drawing/2014/main" id="{3417ED9B-2C31-BC79-3BFD-57FF70CB4EAF}"/>
              </a:ext>
            </a:extLst>
          </p:cNvPr>
          <p:cNvSpPr/>
          <p:nvPr/>
        </p:nvSpPr>
        <p:spPr>
          <a:xfrm>
            <a:off x="2883553" y="1562968"/>
            <a:ext cx="3282941" cy="3280554"/>
          </a:xfrm>
          <a:prstGeom prst="blockArc">
            <a:avLst>
              <a:gd name="adj1" fmla="val 21441505"/>
              <a:gd name="adj2" fmla="val 16200000"/>
              <a:gd name="adj3" fmla="val 2132"/>
            </a:avLst>
          </a:prstGeom>
          <a:solidFill>
            <a:srgbClr val="C69206"/>
          </a:solidFill>
          <a:ln w="57150"/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ED3F7E6-9D79-D759-2FE5-2FAC88532C03}"/>
              </a:ext>
            </a:extLst>
          </p:cNvPr>
          <p:cNvSpPr txBox="1"/>
          <p:nvPr/>
        </p:nvSpPr>
        <p:spPr>
          <a:xfrm>
            <a:off x="811251" y="2315015"/>
            <a:ext cx="1633993" cy="21082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800" b="1" dirty="0"/>
              <a:t>Claude Bernard BADJAGOU</a:t>
            </a:r>
          </a:p>
          <a:p>
            <a:endParaRPr lang="fr-FR" sz="1100" b="1" dirty="0"/>
          </a:p>
          <a:p>
            <a:r>
              <a:rPr lang="fr-FR" sz="1100" dirty="0"/>
              <a:t>Je remercie également mon instructeur, pour son encadrement, ses conseils avisés et son soutien tout au long de cette formation..</a:t>
            </a:r>
            <a:endParaRPr lang="fr-FR" sz="2400" b="1" dirty="0"/>
          </a:p>
        </p:txBody>
      </p:sp>
      <p:sp>
        <p:nvSpPr>
          <p:cNvPr id="22" name="Forme libre 37">
            <a:extLst>
              <a:ext uri="{FF2B5EF4-FFF2-40B4-BE49-F238E27FC236}">
                <a16:creationId xmlns:a16="http://schemas.microsoft.com/office/drawing/2014/main" id="{FBC31B8F-2C09-8231-0420-D5A96B231E78}"/>
              </a:ext>
            </a:extLst>
          </p:cNvPr>
          <p:cNvSpPr/>
          <p:nvPr/>
        </p:nvSpPr>
        <p:spPr>
          <a:xfrm>
            <a:off x="3839055" y="1001818"/>
            <a:ext cx="1182771" cy="1179488"/>
          </a:xfrm>
          <a:custGeom>
            <a:avLst/>
            <a:gdLst>
              <a:gd name="connsiteX0" fmla="*/ 0 w 986334"/>
              <a:gd name="connsiteY0" fmla="*/ 493167 h 986334"/>
              <a:gd name="connsiteX1" fmla="*/ 493167 w 986334"/>
              <a:gd name="connsiteY1" fmla="*/ 0 h 986334"/>
              <a:gd name="connsiteX2" fmla="*/ 986334 w 986334"/>
              <a:gd name="connsiteY2" fmla="*/ 493167 h 986334"/>
              <a:gd name="connsiteX3" fmla="*/ 493167 w 986334"/>
              <a:gd name="connsiteY3" fmla="*/ 986334 h 986334"/>
              <a:gd name="connsiteX4" fmla="*/ 0 w 986334"/>
              <a:gd name="connsiteY4" fmla="*/ 493167 h 986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334" h="986334">
                <a:moveTo>
                  <a:pt x="0" y="493167"/>
                </a:moveTo>
                <a:cubicBezTo>
                  <a:pt x="0" y="220798"/>
                  <a:pt x="220798" y="0"/>
                  <a:pt x="493167" y="0"/>
                </a:cubicBezTo>
                <a:cubicBezTo>
                  <a:pt x="765536" y="0"/>
                  <a:pt x="986334" y="220798"/>
                  <a:pt x="986334" y="493167"/>
                </a:cubicBezTo>
                <a:cubicBezTo>
                  <a:pt x="986334" y="765536"/>
                  <a:pt x="765536" y="986334"/>
                  <a:pt x="493167" y="986334"/>
                </a:cubicBezTo>
                <a:cubicBezTo>
                  <a:pt x="220798" y="986334"/>
                  <a:pt x="0" y="765536"/>
                  <a:pt x="0" y="493167"/>
                </a:cubicBezTo>
                <a:close/>
              </a:path>
            </a:pathLst>
          </a:cu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2391" t="-16919" r="-35639" b="-89039"/>
            </a:stretch>
          </a:blipFill>
          <a:ln w="38100">
            <a:solidFill>
              <a:srgbClr val="1C9444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6035" tIns="166035" rIns="166035" bIns="166035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fr-FR" sz="1700" kern="1200" dirty="0"/>
          </a:p>
        </p:txBody>
      </p:sp>
      <p:sp>
        <p:nvSpPr>
          <p:cNvPr id="26" name="Forme libre 37">
            <a:extLst>
              <a:ext uri="{FF2B5EF4-FFF2-40B4-BE49-F238E27FC236}">
                <a16:creationId xmlns:a16="http://schemas.microsoft.com/office/drawing/2014/main" id="{FCC3D6D3-EAD1-C4B7-EE9E-7B0A525C7719}"/>
              </a:ext>
            </a:extLst>
          </p:cNvPr>
          <p:cNvSpPr/>
          <p:nvPr/>
        </p:nvSpPr>
        <p:spPr>
          <a:xfrm>
            <a:off x="2388789" y="2955108"/>
            <a:ext cx="1148835" cy="1138773"/>
          </a:xfrm>
          <a:custGeom>
            <a:avLst/>
            <a:gdLst>
              <a:gd name="connsiteX0" fmla="*/ 0 w 986334"/>
              <a:gd name="connsiteY0" fmla="*/ 493167 h 986334"/>
              <a:gd name="connsiteX1" fmla="*/ 493167 w 986334"/>
              <a:gd name="connsiteY1" fmla="*/ 0 h 986334"/>
              <a:gd name="connsiteX2" fmla="*/ 986334 w 986334"/>
              <a:gd name="connsiteY2" fmla="*/ 493167 h 986334"/>
              <a:gd name="connsiteX3" fmla="*/ 493167 w 986334"/>
              <a:gd name="connsiteY3" fmla="*/ 986334 h 986334"/>
              <a:gd name="connsiteX4" fmla="*/ 0 w 986334"/>
              <a:gd name="connsiteY4" fmla="*/ 493167 h 986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334" h="986334">
                <a:moveTo>
                  <a:pt x="0" y="493167"/>
                </a:moveTo>
                <a:cubicBezTo>
                  <a:pt x="0" y="220798"/>
                  <a:pt x="220798" y="0"/>
                  <a:pt x="493167" y="0"/>
                </a:cubicBezTo>
                <a:cubicBezTo>
                  <a:pt x="765536" y="0"/>
                  <a:pt x="986334" y="220798"/>
                  <a:pt x="986334" y="493167"/>
                </a:cubicBezTo>
                <a:cubicBezTo>
                  <a:pt x="986334" y="765536"/>
                  <a:pt x="765536" y="986334"/>
                  <a:pt x="493167" y="986334"/>
                </a:cubicBezTo>
                <a:cubicBezTo>
                  <a:pt x="220798" y="986334"/>
                  <a:pt x="0" y="765536"/>
                  <a:pt x="0" y="493167"/>
                </a:cubicBezTo>
                <a:close/>
              </a:path>
            </a:pathLst>
          </a:cu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1C9444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6035" tIns="166035" rIns="166035" bIns="166035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fr-FR" sz="1700" kern="1200" dirty="0"/>
          </a:p>
        </p:txBody>
      </p:sp>
      <p:sp>
        <p:nvSpPr>
          <p:cNvPr id="27" name="Forme libre 37">
            <a:extLst>
              <a:ext uri="{FF2B5EF4-FFF2-40B4-BE49-F238E27FC236}">
                <a16:creationId xmlns:a16="http://schemas.microsoft.com/office/drawing/2014/main" id="{3CF2089C-51BB-73B4-0A35-73001687438A}"/>
              </a:ext>
            </a:extLst>
          </p:cNvPr>
          <p:cNvSpPr/>
          <p:nvPr/>
        </p:nvSpPr>
        <p:spPr>
          <a:xfrm>
            <a:off x="5557792" y="2561121"/>
            <a:ext cx="1077389" cy="1074355"/>
          </a:xfrm>
          <a:custGeom>
            <a:avLst/>
            <a:gdLst>
              <a:gd name="connsiteX0" fmla="*/ 0 w 986334"/>
              <a:gd name="connsiteY0" fmla="*/ 493167 h 986334"/>
              <a:gd name="connsiteX1" fmla="*/ 493167 w 986334"/>
              <a:gd name="connsiteY1" fmla="*/ 0 h 986334"/>
              <a:gd name="connsiteX2" fmla="*/ 986334 w 986334"/>
              <a:gd name="connsiteY2" fmla="*/ 493167 h 986334"/>
              <a:gd name="connsiteX3" fmla="*/ 493167 w 986334"/>
              <a:gd name="connsiteY3" fmla="*/ 986334 h 986334"/>
              <a:gd name="connsiteX4" fmla="*/ 0 w 986334"/>
              <a:gd name="connsiteY4" fmla="*/ 493167 h 986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334" h="986334">
                <a:moveTo>
                  <a:pt x="0" y="493167"/>
                </a:moveTo>
                <a:cubicBezTo>
                  <a:pt x="0" y="220798"/>
                  <a:pt x="220798" y="0"/>
                  <a:pt x="493167" y="0"/>
                </a:cubicBezTo>
                <a:cubicBezTo>
                  <a:pt x="765536" y="0"/>
                  <a:pt x="986334" y="220798"/>
                  <a:pt x="986334" y="493167"/>
                </a:cubicBezTo>
                <a:cubicBezTo>
                  <a:pt x="986334" y="765536"/>
                  <a:pt x="765536" y="986334"/>
                  <a:pt x="493167" y="986334"/>
                </a:cubicBezTo>
                <a:cubicBezTo>
                  <a:pt x="220798" y="986334"/>
                  <a:pt x="0" y="765536"/>
                  <a:pt x="0" y="493167"/>
                </a:cubicBezTo>
                <a:close/>
              </a:path>
            </a:pathLst>
          </a:cu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1C9444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6035" tIns="166035" rIns="166035" bIns="166035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fr-FR" sz="1700" kern="1200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2D510316-CFBA-5D58-77B3-BEAE01E13224}"/>
              </a:ext>
            </a:extLst>
          </p:cNvPr>
          <p:cNvSpPr txBox="1"/>
          <p:nvPr/>
        </p:nvSpPr>
        <p:spPr>
          <a:xfrm>
            <a:off x="6690585" y="2772325"/>
            <a:ext cx="2246111" cy="16466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b="1" dirty="0"/>
              <a:t>GOMYCODE</a:t>
            </a:r>
          </a:p>
          <a:p>
            <a:endParaRPr lang="fr-FR" sz="1200" b="1" dirty="0"/>
          </a:p>
          <a:p>
            <a:r>
              <a:rPr lang="fr-FR" sz="1200" dirty="0"/>
              <a:t>merci à GOMYCODE </a:t>
            </a:r>
            <a:r>
              <a:rPr lang="fr-FR" sz="1100" dirty="0"/>
              <a:t>pour l’opportunité d’apprentissage offerte , pour la qualité de l’accompagnement pédagogique </a:t>
            </a:r>
            <a:r>
              <a:rPr lang="fr-FR" sz="1200" dirty="0"/>
              <a:t>et ce cadre d’apprentissage stimulant.</a:t>
            </a:r>
            <a:endParaRPr lang="fr-FR" sz="2800" b="1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D4203E3F-0210-4699-CACD-4951C785043C}"/>
              </a:ext>
            </a:extLst>
          </p:cNvPr>
          <p:cNvSpPr txBox="1"/>
          <p:nvPr/>
        </p:nvSpPr>
        <p:spPr>
          <a:xfrm>
            <a:off x="5100433" y="661661"/>
            <a:ext cx="2978406" cy="14003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800" b="1" dirty="0"/>
              <a:t>JE ME FÉLICITE</a:t>
            </a:r>
          </a:p>
          <a:p>
            <a:endParaRPr lang="fr-FR" sz="1100" b="1" dirty="0"/>
          </a:p>
          <a:p>
            <a:r>
              <a:rPr lang="fr-FR" sz="1100" dirty="0"/>
              <a:t>pour le travail accompli durant ce projet. Cette réussite est le fruit d'un engagement constant et d'une volonté de toujours apprendre et progresser.</a:t>
            </a:r>
          </a:p>
          <a:p>
            <a:r>
              <a:rPr lang="fr-FR" sz="1200" b="1" dirty="0"/>
              <a:t>Traoré Ismaël 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1AC79F91-C056-406F-D321-1E955DBBDBAB}"/>
              </a:ext>
            </a:extLst>
          </p:cNvPr>
          <p:cNvSpPr/>
          <p:nvPr/>
        </p:nvSpPr>
        <p:spPr>
          <a:xfrm>
            <a:off x="3601842" y="2312477"/>
            <a:ext cx="1894681" cy="183800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349D6E54-80CE-9C7B-DEAE-E175FC7CE5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343" t="23957" r="17804" b="37238"/>
          <a:stretch/>
        </p:blipFill>
        <p:spPr>
          <a:xfrm>
            <a:off x="3839055" y="2989866"/>
            <a:ext cx="1514932" cy="534629"/>
          </a:xfrm>
          <a:prstGeom prst="rect">
            <a:avLst/>
          </a:prstGeom>
        </p:spPr>
      </p:pic>
      <p:sp>
        <p:nvSpPr>
          <p:cNvPr id="36" name="Triangle 9">
            <a:extLst>
              <a:ext uri="{FF2B5EF4-FFF2-40B4-BE49-F238E27FC236}">
                <a16:creationId xmlns:a16="http://schemas.microsoft.com/office/drawing/2014/main" id="{95703431-4F19-0951-CCE8-B1BB637C0DF9}"/>
              </a:ext>
            </a:extLst>
          </p:cNvPr>
          <p:cNvSpPr>
            <a:spLocks noChangeAspect="1"/>
          </p:cNvSpPr>
          <p:nvPr/>
        </p:nvSpPr>
        <p:spPr>
          <a:xfrm rot="12458496" flipH="1">
            <a:off x="3200792" y="2072104"/>
            <a:ext cx="221220" cy="190707"/>
          </a:xfrm>
          <a:prstGeom prst="triangle">
            <a:avLst/>
          </a:prstGeom>
          <a:solidFill>
            <a:srgbClr val="1C9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7" name="Triangle 9">
            <a:extLst>
              <a:ext uri="{FF2B5EF4-FFF2-40B4-BE49-F238E27FC236}">
                <a16:creationId xmlns:a16="http://schemas.microsoft.com/office/drawing/2014/main" id="{BDCD1DD3-AB9D-F6EB-CBAE-270051C20CBE}"/>
              </a:ext>
            </a:extLst>
          </p:cNvPr>
          <p:cNvSpPr>
            <a:spLocks noChangeAspect="1"/>
          </p:cNvSpPr>
          <p:nvPr/>
        </p:nvSpPr>
        <p:spPr>
          <a:xfrm rot="3991224" flipH="1">
            <a:off x="4879078" y="4647810"/>
            <a:ext cx="191883" cy="165416"/>
          </a:xfrm>
          <a:prstGeom prst="triangle">
            <a:avLst/>
          </a:prstGeom>
          <a:solidFill>
            <a:srgbClr val="1C9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453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2" grpId="0" animBg="1"/>
      <p:bldP spid="26" grpId="0" animBg="1"/>
      <p:bldP spid="27" grpId="0" animBg="1"/>
      <p:bldP spid="30" grpId="0"/>
      <p:bldP spid="32" grpId="0"/>
    </p:bldLst>
  </p:timing>
</p:sld>
</file>

<file path=ppt/theme/theme1.xml><?xml version="1.0" encoding="utf-8"?>
<a:theme xmlns:a="http://schemas.openxmlformats.org/drawingml/2006/main" name="Quality Control Inspector Job Description by Slidesgo">
  <a:themeElements>
    <a:clrScheme name="Simple Light">
      <a:dk1>
        <a:srgbClr val="000000"/>
      </a:dk1>
      <a:lt1>
        <a:srgbClr val="EAEAEA"/>
      </a:lt1>
      <a:dk2>
        <a:srgbClr val="3963D5"/>
      </a:dk2>
      <a:lt2>
        <a:srgbClr val="F35232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12878</TotalTime>
  <Words>785</Words>
  <Application>Microsoft Office PowerPoint</Application>
  <PresentationFormat>Affichage à l'écran (16:9)</PresentationFormat>
  <Paragraphs>149</Paragraphs>
  <Slides>15</Slides>
  <Notes>15</Notes>
  <HiddenSlides>2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5" baseType="lpstr">
      <vt:lpstr>Exo SemiBold</vt:lpstr>
      <vt:lpstr>Nunito Light</vt:lpstr>
      <vt:lpstr>Arial</vt:lpstr>
      <vt:lpstr>Mulish SemiBold</vt:lpstr>
      <vt:lpstr>Exo</vt:lpstr>
      <vt:lpstr>Loved by the King</vt:lpstr>
      <vt:lpstr>Roboto Condensed Light</vt:lpstr>
      <vt:lpstr>Exo Black</vt:lpstr>
      <vt:lpstr>Gothic A1</vt:lpstr>
      <vt:lpstr>Quality Control Inspector Job Description by Slidesgo</vt:lpstr>
      <vt:lpstr>Présentation PowerPoint</vt:lpstr>
      <vt:lpstr>ANALYSE DES VENTES ET PERFORMANCES  COMMERCIALES AVEC POWER BI. </vt:lpstr>
      <vt:lpstr> INTRODUCTION</vt:lpstr>
      <vt:lpstr>MÉTHODOLOGIE ET SOURCES DE DONNÉES</vt:lpstr>
      <vt:lpstr>ANALYSE DES VENTES &amp;  PERFORMANCES COMMERCIALES</vt:lpstr>
      <vt:lpstr>ANALYSE DES VENTES &amp;  PERFORMANCES COMMERCIALES</vt:lpstr>
      <vt:lpstr>ANALYSE DES VENTES &amp;  PERFORMANCES COMMERCIALES</vt:lpstr>
      <vt:lpstr>ANALYSE DU COMPORTEMENT  CLIENT &amp; GÉOGRAPHIQUE</vt:lpstr>
      <vt:lpstr>ANALYSE DES VENTES &amp;  PERFORMANCES COMMERCIALES</vt:lpstr>
      <vt:lpstr>ANALYSE DE LA RENTABILITÉ  &amp; DES MARGES</vt:lpstr>
      <vt:lpstr>ANALYSE DES VENTES &amp;  PERFORMANCES COMMERCIALES</vt:lpstr>
      <vt:lpstr>SYNTHÈSE DES RÉSULTATS CLÉS</vt:lpstr>
      <vt:lpstr>SYNTHÈSE DES RÉSULTATS &amp; RECOMMANDATIONS</vt:lpstr>
      <vt:lpstr> CONCLUSION</vt:lpstr>
      <vt:lpstr> REMERCIEMENTS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Academicien</dc:creator>
  <cp:lastModifiedBy>traoreismael.ci@gmail.com</cp:lastModifiedBy>
  <cp:revision>68</cp:revision>
  <dcterms:modified xsi:type="dcterms:W3CDTF">2025-02-27T13:49:49Z</dcterms:modified>
</cp:coreProperties>
</file>